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4"/>
  </p:notesMasterIdLst>
  <p:sldIdLst>
    <p:sldId id="256" r:id="rId2"/>
    <p:sldId id="714" r:id="rId3"/>
    <p:sldId id="674" r:id="rId4"/>
    <p:sldId id="716" r:id="rId5"/>
    <p:sldId id="717" r:id="rId6"/>
    <p:sldId id="719" r:id="rId7"/>
    <p:sldId id="720" r:id="rId8"/>
    <p:sldId id="722" r:id="rId9"/>
    <p:sldId id="723" r:id="rId10"/>
    <p:sldId id="724" r:id="rId11"/>
    <p:sldId id="725" r:id="rId12"/>
    <p:sldId id="726" r:id="rId13"/>
    <p:sldId id="727" r:id="rId14"/>
    <p:sldId id="728" r:id="rId15"/>
    <p:sldId id="729" r:id="rId16"/>
    <p:sldId id="730" r:id="rId17"/>
    <p:sldId id="735" r:id="rId18"/>
    <p:sldId id="738" r:id="rId19"/>
    <p:sldId id="736" r:id="rId20"/>
    <p:sldId id="733" r:id="rId21"/>
    <p:sldId id="739" r:id="rId22"/>
    <p:sldId id="30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3C3D1F-C313-463E-A887-13EAED3BE701}" v="104" dt="2025-12-16T09:39:29.2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74" d="100"/>
          <a:sy n="74" d="100"/>
        </p:scale>
        <p:origin x="859" y="58"/>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16-12-2025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148907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 Insurance Customer Response Prediction</a:t>
            </a:r>
          </a:p>
          <a:p>
            <a:pPr algn="ctr"/>
            <a:r>
              <a:rPr lang="en-US" sz="4400" b="1" dirty="0" err="1">
                <a:latin typeface="Calibri" panose="020F0502020204030204" pitchFamily="34" charset="0"/>
              </a:rPr>
              <a:t>By:Dhanush</a:t>
            </a:r>
            <a:r>
              <a:rPr lang="en-US" sz="4400" b="1" dirty="0">
                <a:latin typeface="Calibri" panose="020F0502020204030204" pitchFamily="34" charset="0"/>
              </a:rPr>
              <a:t> P</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667454"/>
            <a:ext cx="10834234" cy="4413305"/>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In today’s competitive insurance industry, identifying customers who are most likely to respond to policy offers is a critical challenge. Traditional mass marketing approaches often lead to </a:t>
            </a:r>
            <a:r>
              <a:rPr lang="en-US" b="1" dirty="0">
                <a:latin typeface="Times New Roman" panose="02020603050405020304" pitchFamily="18" charset="0"/>
                <a:cs typeface="Times New Roman" panose="02020603050405020304" pitchFamily="18" charset="0"/>
              </a:rPr>
              <a:t>high operational costs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low conversion rates</a:t>
            </a:r>
            <a:r>
              <a:rPr lang="en-US" dirty="0">
                <a:latin typeface="Times New Roman" panose="02020603050405020304" pitchFamily="18" charset="0"/>
                <a:cs typeface="Times New Roman" panose="02020603050405020304" pitchFamily="18" charset="0"/>
              </a:rPr>
              <a:t> due to poor customer targeting.</a:t>
            </a:r>
          </a:p>
          <a:p>
            <a:r>
              <a:rPr lang="en-US" dirty="0">
                <a:latin typeface="Times New Roman" panose="02020603050405020304" pitchFamily="18" charset="0"/>
                <a:cs typeface="Times New Roman" panose="02020603050405020304" pitchFamily="18" charset="0"/>
              </a:rPr>
              <a:t>This project focuses on building a </a:t>
            </a:r>
            <a:r>
              <a:rPr lang="en-US" b="1" dirty="0">
                <a:latin typeface="Times New Roman" panose="02020603050405020304" pitchFamily="18" charset="0"/>
                <a:cs typeface="Times New Roman" panose="02020603050405020304" pitchFamily="18" charset="0"/>
              </a:rPr>
              <a:t>machine learning–based predictive system</a:t>
            </a:r>
            <a:r>
              <a:rPr lang="en-US" dirty="0">
                <a:latin typeface="Times New Roman" panose="02020603050405020304" pitchFamily="18" charset="0"/>
                <a:cs typeface="Times New Roman" panose="02020603050405020304" pitchFamily="18" charset="0"/>
              </a:rPr>
              <a:t> that analyzes customer demographic and policy-related information to accurately predict whether a customer will respond positively to an insurance policy offer. By leveraging historical data and advanced classification algorithms, the solution aims to help insurance companies </a:t>
            </a:r>
            <a:r>
              <a:rPr lang="en-US" b="1" dirty="0">
                <a:latin typeface="Times New Roman" panose="02020603050405020304" pitchFamily="18" charset="0"/>
                <a:cs typeface="Times New Roman" panose="02020603050405020304" pitchFamily="18" charset="0"/>
              </a:rPr>
              <a:t>optimize marketing strategies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improve customer engagement</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increase policy sales efficiency</a:t>
            </a:r>
            <a:r>
              <a:rPr lang="en-US" dirty="0">
                <a:latin typeface="Times New Roman" panose="02020603050405020304" pitchFamily="18" charset="0"/>
                <a:cs typeface="Times New Roman" panose="02020603050405020304" pitchFamily="18" charset="0"/>
              </a:rPr>
              <a:t>.</a:t>
            </a:r>
          </a:p>
          <a:p>
            <a:r>
              <a:rPr lang="en-US" sz="3000" dirty="0">
                <a:latin typeface="Times New Roman" panose="02020603050405020304" pitchFamily="18" charset="0"/>
                <a:cs typeface="Times New Roman" panose="02020603050405020304" pitchFamily="18" charset="0"/>
              </a:rPr>
              <a:t>The project demonstrates the end-to-end machine learning workflow, including data exploration, preprocessing, model training, evaluation, and deployment insights,</a:t>
            </a:r>
          </a:p>
          <a:p>
            <a:endParaRPr lang="en-IN" dirty="0"/>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normAutofit fontScale="85000" lnSpcReduction="1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US" dirty="0">
                <a:latin typeface="Times New Roman" panose="02020603050405020304" pitchFamily="18" charset="0"/>
                <a:cs typeface="Times New Roman" panose="02020603050405020304" pitchFamily="18" charset="0"/>
              </a:rPr>
              <a:t>To analyze historical insurance customer data and understand key factors influencing customer response to policy offers.</a:t>
            </a:r>
          </a:p>
          <a:p>
            <a:r>
              <a:rPr lang="en-US" dirty="0">
                <a:latin typeface="Times New Roman" panose="02020603050405020304" pitchFamily="18" charset="0"/>
                <a:cs typeface="Times New Roman" panose="02020603050405020304" pitchFamily="18" charset="0"/>
              </a:rPr>
              <a:t>To perform data preprocessing and feature engineering to prepare high-quality input data for machine learning models.</a:t>
            </a:r>
          </a:p>
          <a:p>
            <a:r>
              <a:rPr lang="en-US" dirty="0">
                <a:latin typeface="Times New Roman" panose="02020603050405020304" pitchFamily="18" charset="0"/>
                <a:cs typeface="Times New Roman" panose="02020603050405020304" pitchFamily="18" charset="0"/>
              </a:rPr>
              <a:t>To develop and compare multiple classification models such as </a:t>
            </a:r>
            <a:r>
              <a:rPr lang="en-US" b="1" dirty="0">
                <a:latin typeface="Times New Roman" panose="02020603050405020304" pitchFamily="18" charset="0"/>
                <a:cs typeface="Times New Roman" panose="02020603050405020304" pitchFamily="18" charset="0"/>
              </a:rPr>
              <a:t>Logistic Regression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Decision Tree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Random Forest</a:t>
            </a:r>
            <a:r>
              <a:rPr lang="en-US" dirty="0">
                <a:latin typeface="Times New Roman" panose="02020603050405020304" pitchFamily="18" charset="0"/>
                <a:cs typeface="Times New Roman" panose="02020603050405020304" pitchFamily="18" charset="0"/>
              </a:rPr>
              <a:t> to predict customer response.</a:t>
            </a:r>
          </a:p>
          <a:p>
            <a:r>
              <a:rPr lang="en-US" dirty="0">
                <a:latin typeface="Times New Roman" panose="02020603050405020304" pitchFamily="18" charset="0"/>
                <a:cs typeface="Times New Roman" panose="02020603050405020304" pitchFamily="18" charset="0"/>
              </a:rPr>
              <a:t>To evaluate model performance using standard metrics including </a:t>
            </a:r>
            <a:r>
              <a:rPr lang="en-US" b="1" dirty="0">
                <a:latin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Precision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Recall</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F1-Score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ROC-AUC</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To identify the best-performing model and justify its selection based on predictive performance and business relevance.</a:t>
            </a:r>
          </a:p>
          <a:p>
            <a:r>
              <a:rPr lang="en-US" dirty="0">
                <a:latin typeface="Times New Roman" panose="02020603050405020304" pitchFamily="18" charset="0"/>
                <a:cs typeface="Times New Roman" panose="02020603050405020304" pitchFamily="18" charset="0"/>
              </a:rPr>
              <a:t>To demonstrate how predictive analytics can support </a:t>
            </a:r>
            <a:r>
              <a:rPr lang="en-US" b="1" dirty="0">
                <a:latin typeface="Times New Roman" panose="02020603050405020304" pitchFamily="18" charset="0"/>
                <a:cs typeface="Times New Roman" panose="02020603050405020304" pitchFamily="18" charset="0"/>
              </a:rPr>
              <a:t>targeted marketing</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cost reduction</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improved policy conversion rates</a:t>
            </a:r>
            <a:r>
              <a:rPr lang="en-US" dirty="0">
                <a:latin typeface="Times New Roman" panose="02020603050405020304" pitchFamily="18" charset="0"/>
                <a:cs typeface="Times New Roman" panose="02020603050405020304" pitchFamily="18" charset="0"/>
              </a:rPr>
              <a:t> in the insurance domain.</a:t>
            </a:r>
          </a:p>
          <a:p>
            <a:pPr lvl="0"/>
            <a:endParaRPr lang="en-US" dirty="0"/>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6ED4E-F74F-9CAA-D7D7-512819549D9A}"/>
              </a:ext>
            </a:extLst>
          </p:cNvPr>
          <p:cNvSpPr>
            <a:spLocks noGrp="1"/>
          </p:cNvSpPr>
          <p:nvPr>
            <p:ph type="title"/>
          </p:nvPr>
        </p:nvSpPr>
        <p:spPr/>
        <p:txBody>
          <a:bodyPr/>
          <a:lstStyle/>
          <a:p>
            <a:r>
              <a:rPr lang="en-IN" dirty="0"/>
              <a:t>About the Dataset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FC0A5D-F8D2-475E-1A83-CD2E8E9EAFB8}"/>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The dataset contains historical records of insurance customers along with their demographic and policy-related information.</a:t>
            </a:r>
          </a:p>
          <a:p>
            <a:r>
              <a:rPr lang="en-US" dirty="0">
                <a:latin typeface="Times New Roman" panose="02020603050405020304" pitchFamily="18" charset="0"/>
                <a:cs typeface="Times New Roman" panose="02020603050405020304" pitchFamily="18" charset="0"/>
              </a:rPr>
              <a:t>Each record represents an individual customer and includes attributes such as age, gender, vehicle details, premium amount, and previous insurance history.</a:t>
            </a:r>
          </a:p>
          <a:p>
            <a:r>
              <a:rPr lang="en-US" dirty="0">
                <a:latin typeface="Times New Roman" panose="02020603050405020304" pitchFamily="18" charset="0"/>
                <a:cs typeface="Times New Roman" panose="02020603050405020304" pitchFamily="18" charset="0"/>
              </a:rPr>
              <a:t>The target variable </a:t>
            </a:r>
            <a:r>
              <a:rPr lang="en-US" b="1" dirty="0">
                <a:latin typeface="Times New Roman" panose="02020603050405020304" pitchFamily="18" charset="0"/>
                <a:cs typeface="Times New Roman" panose="02020603050405020304" pitchFamily="18" charset="0"/>
              </a:rPr>
              <a:t>Response</a:t>
            </a:r>
            <a:r>
              <a:rPr lang="en-US" dirty="0">
                <a:latin typeface="Times New Roman" panose="02020603050405020304" pitchFamily="18" charset="0"/>
                <a:cs typeface="Times New Roman" panose="02020603050405020304" pitchFamily="18" charset="0"/>
              </a:rPr>
              <a:t> indicates whether a customer showed interest in the insurance policy (1 – Yes, 0 – No).</a:t>
            </a:r>
          </a:p>
          <a:p>
            <a:r>
              <a:rPr lang="en-US" dirty="0">
                <a:latin typeface="Times New Roman" panose="02020603050405020304" pitchFamily="18" charset="0"/>
                <a:cs typeface="Times New Roman" panose="02020603050405020304" pitchFamily="18" charset="0"/>
              </a:rPr>
              <a:t>The dataset includes both </a:t>
            </a:r>
            <a:r>
              <a:rPr lang="en-US" b="1" dirty="0">
                <a:latin typeface="Times New Roman" panose="02020603050405020304" pitchFamily="18" charset="0"/>
                <a:cs typeface="Times New Roman" panose="02020603050405020304" pitchFamily="18" charset="0"/>
              </a:rPr>
              <a:t>categorical</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numerical</a:t>
            </a:r>
            <a:r>
              <a:rPr lang="en-US" dirty="0">
                <a:latin typeface="Times New Roman" panose="02020603050405020304" pitchFamily="18" charset="0"/>
                <a:cs typeface="Times New Roman" panose="02020603050405020304" pitchFamily="18" charset="0"/>
              </a:rPr>
              <a:t> features, making it suitable for applying various machine learning classification techniques.</a:t>
            </a:r>
          </a:p>
          <a:p>
            <a:r>
              <a:rPr lang="en-US" dirty="0">
                <a:latin typeface="Times New Roman" panose="02020603050405020304" pitchFamily="18" charset="0"/>
                <a:cs typeface="Times New Roman" panose="02020603050405020304" pitchFamily="18" charset="0"/>
              </a:rPr>
              <a:t>This data is used to identify patterns in customer behavior and build predictive models for insurance policy response.</a:t>
            </a:r>
          </a:p>
          <a:p>
            <a:endParaRPr lang="en-IN" dirty="0"/>
          </a:p>
        </p:txBody>
      </p:sp>
    </p:spTree>
    <p:extLst>
      <p:ext uri="{BB962C8B-B14F-4D97-AF65-F5344CB8AC3E}">
        <p14:creationId xmlns:p14="http://schemas.microsoft.com/office/powerpoint/2010/main" val="126037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9F3BF-5DB7-EB97-FF29-F9854C9389F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EDA</a:t>
            </a:r>
          </a:p>
        </p:txBody>
      </p:sp>
      <p:sp>
        <p:nvSpPr>
          <p:cNvPr id="3" name="Content Placeholder 2">
            <a:extLst>
              <a:ext uri="{FF2B5EF4-FFF2-40B4-BE49-F238E27FC236}">
                <a16:creationId xmlns:a16="http://schemas.microsoft.com/office/drawing/2014/main" id="{1F46EB98-EED3-5C08-4E1A-BA25467C9433}"/>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Exploratory Data Analysis (EDA) is a crucial step in the machine learning pipeline that focuses on understanding the structure, patterns, and characteristics of the dataset before model building. In this project, EDA is used to analyze customer demographic and policy-related features to identify key factors influencing customer response to insurance policy offers.</a:t>
            </a:r>
          </a:p>
          <a:p>
            <a:r>
              <a:rPr lang="en-US" dirty="0">
                <a:latin typeface="Times New Roman" panose="02020603050405020304" pitchFamily="18" charset="0"/>
                <a:cs typeface="Times New Roman" panose="02020603050405020304" pitchFamily="18" charset="0"/>
              </a:rPr>
              <a:t>Through statistical analysis and data visualization, EDA helps uncover relationships between variables, detect trends, identify imbalances, and gain business-oriented insights. The findings from EDA guide feature selection, preprocessing strategies, and model selection, ensuring that the predictive models are both accurate and interpretable.</a:t>
            </a:r>
          </a:p>
          <a:p>
            <a:endParaRPr lang="en-IN" dirty="0"/>
          </a:p>
        </p:txBody>
      </p:sp>
    </p:spTree>
    <p:extLst>
      <p:ext uri="{BB962C8B-B14F-4D97-AF65-F5344CB8AC3E}">
        <p14:creationId xmlns:p14="http://schemas.microsoft.com/office/powerpoint/2010/main" val="2569493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096E571-B417-E68F-3777-892655617246}"/>
              </a:ext>
            </a:extLst>
          </p:cNvPr>
          <p:cNvSpPr>
            <a:spLocks noGrp="1"/>
          </p:cNvSpPr>
          <p:nvPr>
            <p:ph type="title"/>
          </p:nvPr>
        </p:nvSpPr>
        <p:spPr>
          <a:xfrm>
            <a:off x="679450" y="603250"/>
            <a:ext cx="10833100" cy="612775"/>
          </a:xfrm>
        </p:spPr>
        <p:txBody>
          <a:bodyPr/>
          <a:lstStyle/>
          <a:p>
            <a:r>
              <a:rPr lang="en-IN" dirty="0">
                <a:latin typeface="Times New Roman" panose="02020603050405020304" pitchFamily="18" charset="0"/>
                <a:cs typeface="Times New Roman" panose="02020603050405020304" pitchFamily="18" charset="0"/>
              </a:rPr>
              <a:t>Age Distribution of Customers</a:t>
            </a:r>
          </a:p>
        </p:txBody>
      </p:sp>
      <p:sp>
        <p:nvSpPr>
          <p:cNvPr id="6" name="Rectangle 1">
            <a:extLst>
              <a:ext uri="{FF2B5EF4-FFF2-40B4-BE49-F238E27FC236}">
                <a16:creationId xmlns:a16="http://schemas.microsoft.com/office/drawing/2014/main" id="{85B4B4DE-656E-4BCB-E9E9-6947F043A058}"/>
              </a:ext>
            </a:extLst>
          </p:cNvPr>
          <p:cNvSpPr>
            <a:spLocks noGrp="1" noChangeArrowheads="1"/>
          </p:cNvSpPr>
          <p:nvPr>
            <p:ph sz="half" idx="1"/>
          </p:nvPr>
        </p:nvSpPr>
        <p:spPr bwMode="auto">
          <a:xfrm>
            <a:off x="679450" y="1660525"/>
            <a:ext cx="5340350" cy="439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Customers belong to different age groups.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customers are from the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middle-age group</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Fewer customers are very young or very old.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Middle-aged customers show more interest in insurance.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Age helps in identifying the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target customer group</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pic>
        <p:nvPicPr>
          <p:cNvPr id="13" name="Content Placeholder 12" descr="A graph of a number of customers">
            <a:extLst>
              <a:ext uri="{FF2B5EF4-FFF2-40B4-BE49-F238E27FC236}">
                <a16:creationId xmlns:a16="http://schemas.microsoft.com/office/drawing/2014/main" id="{0BDB2D8B-AD58-9FE9-FA76-B1EB0245FC49}"/>
              </a:ext>
              <a:ext uri="{C183D7F6-B498-43B3-948B-1728B52AA6E4}">
                <adec:decorative xmlns:adec="http://schemas.microsoft.com/office/drawing/2017/decorative" val="0"/>
              </a:ext>
            </a:extLst>
          </p:cNvPr>
          <p:cNvPicPr>
            <a:picLocks noGrp="1" noChangeAspect="1"/>
          </p:cNvPicPr>
          <p:nvPr>
            <p:ph sz="half" idx="2"/>
          </p:nvPr>
        </p:nvPicPr>
        <p:blipFill>
          <a:blip r:embed="rId2"/>
          <a:stretch>
            <a:fillRect/>
          </a:stretch>
        </p:blipFill>
        <p:spPr>
          <a:xfrm>
            <a:off x="6172200" y="2090969"/>
            <a:ext cx="5340350" cy="3538074"/>
          </a:xfrm>
          <a:prstGeom prst="rect">
            <a:avLst/>
          </a:prstGeom>
        </p:spPr>
      </p:pic>
    </p:spTree>
    <p:extLst>
      <p:ext uri="{BB962C8B-B14F-4D97-AF65-F5344CB8AC3E}">
        <p14:creationId xmlns:p14="http://schemas.microsoft.com/office/powerpoint/2010/main" val="2267380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3F66C-FBCB-C2A8-1311-C516EA9C1E3B}"/>
              </a:ext>
            </a:extLst>
          </p:cNvPr>
          <p:cNvSpPr>
            <a:spLocks noGrp="1"/>
          </p:cNvSpPr>
          <p:nvPr>
            <p:ph type="title"/>
          </p:nvPr>
        </p:nvSpPr>
        <p:spPr>
          <a:xfrm>
            <a:off x="678881" y="311728"/>
            <a:ext cx="10834233" cy="904714"/>
          </a:xfrm>
        </p:spPr>
        <p:txBody>
          <a:bodyPr>
            <a:normAutofit fontScale="90000"/>
          </a:bodyPr>
          <a:lstStyle/>
          <a:p>
            <a:r>
              <a:rPr lang="en-IN" dirty="0">
                <a:latin typeface="Times New Roman" panose="02020603050405020304" pitchFamily="18" charset="0"/>
                <a:cs typeface="Times New Roman" panose="02020603050405020304" pitchFamily="18" charset="0"/>
              </a:rPr>
              <a:t>Age vs Customer Response</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0B7892-5AE4-570B-9F32-90BEEEBB748F}"/>
              </a:ext>
            </a:extLst>
          </p:cNvPr>
          <p:cNvSpPr>
            <a:spLocks noGrp="1"/>
          </p:cNvSpPr>
          <p:nvPr>
            <p:ph sz="half"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Customer responses vary across different age groups.</a:t>
            </a:r>
          </a:p>
          <a:p>
            <a:r>
              <a:rPr lang="en-US" dirty="0">
                <a:latin typeface="Times New Roman" panose="02020603050405020304" pitchFamily="18" charset="0"/>
                <a:cs typeface="Times New Roman" panose="02020603050405020304" pitchFamily="18" charset="0"/>
              </a:rPr>
              <a:t>Middle-aged customers show a </a:t>
            </a:r>
            <a:r>
              <a:rPr lang="en-US" b="1" dirty="0">
                <a:latin typeface="Times New Roman" panose="02020603050405020304" pitchFamily="18" charset="0"/>
                <a:cs typeface="Times New Roman" panose="02020603050405020304" pitchFamily="18" charset="0"/>
              </a:rPr>
              <a:t>higher response rate</a:t>
            </a:r>
            <a:r>
              <a:rPr lang="en-US" dirty="0">
                <a:latin typeface="Times New Roman" panose="02020603050405020304" pitchFamily="18" charset="0"/>
                <a:cs typeface="Times New Roman" panose="02020603050405020304" pitchFamily="18" charset="0"/>
              </a:rPr>
              <a:t> compared to younger and older customers.</a:t>
            </a:r>
          </a:p>
          <a:p>
            <a:r>
              <a:rPr lang="en-US" dirty="0">
                <a:latin typeface="Times New Roman" panose="02020603050405020304" pitchFamily="18" charset="0"/>
                <a:cs typeface="Times New Roman" panose="02020603050405020304" pitchFamily="18" charset="0"/>
              </a:rPr>
              <a:t>Younger customers tend to respond less, possibly due to lower risk perception.</a:t>
            </a:r>
          </a:p>
          <a:p>
            <a:r>
              <a:rPr lang="en-US" dirty="0">
                <a:latin typeface="Times New Roman" panose="02020603050405020304" pitchFamily="18" charset="0"/>
                <a:cs typeface="Times New Roman" panose="02020603050405020304" pitchFamily="18" charset="0"/>
              </a:rPr>
              <a:t>Older customers also show lower response, which may be influenced by existing insurance coverage.</a:t>
            </a:r>
          </a:p>
          <a:p>
            <a:r>
              <a:rPr lang="en-US" dirty="0">
                <a:latin typeface="Times New Roman" panose="02020603050405020304" pitchFamily="18" charset="0"/>
                <a:cs typeface="Times New Roman" panose="02020603050405020304" pitchFamily="18" charset="0"/>
              </a:rPr>
              <a:t>Age is an important factor in identifying </a:t>
            </a:r>
            <a:r>
              <a:rPr lang="en-US" b="1" dirty="0">
                <a:latin typeface="Times New Roman" panose="02020603050405020304" pitchFamily="18" charset="0"/>
                <a:cs typeface="Times New Roman" panose="02020603050405020304" pitchFamily="18" charset="0"/>
              </a:rPr>
              <a:t>potential target customers</a:t>
            </a:r>
            <a:r>
              <a:rPr lang="en-US" dirty="0">
                <a:latin typeface="Times New Roman" panose="02020603050405020304" pitchFamily="18" charset="0"/>
                <a:cs typeface="Times New Roman" panose="02020603050405020304" pitchFamily="18" charset="0"/>
              </a:rPr>
              <a:t> for insurance policies.</a:t>
            </a:r>
          </a:p>
          <a:p>
            <a:endParaRPr lang="en-IN" dirty="0"/>
          </a:p>
        </p:txBody>
      </p:sp>
      <p:pic>
        <p:nvPicPr>
          <p:cNvPr id="6" name="Content Placeholder 5" descr="A graph showing the age distribution of customer response&#10;&#10;AI-generated content may be incorrect.">
            <a:extLst>
              <a:ext uri="{FF2B5EF4-FFF2-40B4-BE49-F238E27FC236}">
                <a16:creationId xmlns:a16="http://schemas.microsoft.com/office/drawing/2014/main" id="{5ECA2C96-DF3E-3762-BCDE-734269275BA3}"/>
              </a:ext>
            </a:extLst>
          </p:cNvPr>
          <p:cNvPicPr>
            <a:picLocks noGrp="1" noChangeAspect="1"/>
          </p:cNvPicPr>
          <p:nvPr>
            <p:ph sz="half" idx="2"/>
          </p:nvPr>
        </p:nvPicPr>
        <p:blipFill>
          <a:blip r:embed="rId2"/>
          <a:stretch>
            <a:fillRect/>
          </a:stretch>
        </p:blipFill>
        <p:spPr>
          <a:xfrm>
            <a:off x="6172200" y="2019699"/>
            <a:ext cx="5340350" cy="3680615"/>
          </a:xfrm>
          <a:prstGeom prst="rect">
            <a:avLst/>
          </a:prstGeom>
        </p:spPr>
      </p:pic>
    </p:spTree>
    <p:extLst>
      <p:ext uri="{BB962C8B-B14F-4D97-AF65-F5344CB8AC3E}">
        <p14:creationId xmlns:p14="http://schemas.microsoft.com/office/powerpoint/2010/main" val="791660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E20B-662F-2541-2F25-94DACD03E233}"/>
              </a:ext>
            </a:extLst>
          </p:cNvPr>
          <p:cNvSpPr>
            <a:spLocks noGrp="1"/>
          </p:cNvSpPr>
          <p:nvPr>
            <p:ph type="title"/>
          </p:nvPr>
        </p:nvSpPr>
        <p:spPr/>
        <p:txBody>
          <a:bodyPr/>
          <a:lstStyle/>
          <a:p>
            <a:r>
              <a:rPr lang="en-IN" dirty="0"/>
              <a:t>Vehicle Damage vs Customer Response</a:t>
            </a:r>
          </a:p>
        </p:txBody>
      </p:sp>
      <p:sp>
        <p:nvSpPr>
          <p:cNvPr id="3" name="Content Placeholder 2">
            <a:extLst>
              <a:ext uri="{FF2B5EF4-FFF2-40B4-BE49-F238E27FC236}">
                <a16:creationId xmlns:a16="http://schemas.microsoft.com/office/drawing/2014/main" id="{5A9E9F13-2361-422D-74F3-41BDF36A303C}"/>
              </a:ext>
            </a:extLst>
          </p:cNvPr>
          <p:cNvSpPr>
            <a:spLocks noGrp="1"/>
          </p:cNvSpPr>
          <p:nvPr>
            <p:ph sz="half"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Customer response differs based on vehicle damage history.</a:t>
            </a:r>
          </a:p>
          <a:p>
            <a:r>
              <a:rPr lang="en-US" dirty="0">
                <a:latin typeface="Times New Roman" panose="02020603050405020304" pitchFamily="18" charset="0"/>
                <a:cs typeface="Times New Roman" panose="02020603050405020304" pitchFamily="18" charset="0"/>
              </a:rPr>
              <a:t>Customers whose vehicles had </a:t>
            </a:r>
            <a:r>
              <a:rPr lang="en-US" b="1" dirty="0">
                <a:latin typeface="Times New Roman" panose="02020603050405020304" pitchFamily="18" charset="0"/>
                <a:cs typeface="Times New Roman" panose="02020603050405020304" pitchFamily="18" charset="0"/>
              </a:rPr>
              <a:t>previous damage</a:t>
            </a:r>
            <a:r>
              <a:rPr lang="en-US" dirty="0">
                <a:latin typeface="Times New Roman" panose="02020603050405020304" pitchFamily="18" charset="0"/>
                <a:cs typeface="Times New Roman" panose="02020603050405020304" pitchFamily="18" charset="0"/>
              </a:rPr>
              <a:t> show a </a:t>
            </a:r>
            <a:r>
              <a:rPr lang="en-US" b="1" dirty="0">
                <a:latin typeface="Times New Roman" panose="02020603050405020304" pitchFamily="18" charset="0"/>
                <a:cs typeface="Times New Roman" panose="02020603050405020304" pitchFamily="18" charset="0"/>
              </a:rPr>
              <a:t>higher response rate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Customers without vehicle damage are less likely to respond.</a:t>
            </a:r>
          </a:p>
          <a:p>
            <a:r>
              <a:rPr lang="en-US" dirty="0">
                <a:latin typeface="Times New Roman" panose="02020603050405020304" pitchFamily="18" charset="0"/>
                <a:cs typeface="Times New Roman" panose="02020603050405020304" pitchFamily="18" charset="0"/>
              </a:rPr>
              <a:t>Vehicle damage increases awareness of risk and insurance need.</a:t>
            </a:r>
          </a:p>
          <a:p>
            <a:r>
              <a:rPr lang="en-US" dirty="0">
                <a:latin typeface="Times New Roman" panose="02020603050405020304" pitchFamily="18" charset="0"/>
                <a:cs typeface="Times New Roman" panose="02020603050405020304" pitchFamily="18" charset="0"/>
              </a:rPr>
              <a:t>Vehicle damage is a </a:t>
            </a:r>
            <a:r>
              <a:rPr lang="en-US" b="1" dirty="0">
                <a:latin typeface="Times New Roman" panose="02020603050405020304" pitchFamily="18" charset="0"/>
                <a:cs typeface="Times New Roman" panose="02020603050405020304" pitchFamily="18" charset="0"/>
              </a:rPr>
              <a:t>strong influencing factor</a:t>
            </a:r>
            <a:r>
              <a:rPr lang="en-US" dirty="0">
                <a:latin typeface="Times New Roman" panose="02020603050405020304" pitchFamily="18" charset="0"/>
                <a:cs typeface="Times New Roman" panose="02020603050405020304" pitchFamily="18" charset="0"/>
              </a:rPr>
              <a:t> in customer response.</a:t>
            </a:r>
          </a:p>
          <a:p>
            <a:endParaRPr lang="en-IN" dirty="0"/>
          </a:p>
        </p:txBody>
      </p:sp>
      <p:pic>
        <p:nvPicPr>
          <p:cNvPr id="6" name="Content Placeholder 5" descr="A graph of a vehicle damage and a customer response&#10;&#10;AI-generated content may be incorrect.">
            <a:extLst>
              <a:ext uri="{FF2B5EF4-FFF2-40B4-BE49-F238E27FC236}">
                <a16:creationId xmlns:a16="http://schemas.microsoft.com/office/drawing/2014/main" id="{1E8006B1-97F7-143F-814C-05974937A260}"/>
              </a:ext>
            </a:extLst>
          </p:cNvPr>
          <p:cNvPicPr>
            <a:picLocks noGrp="1" noChangeAspect="1"/>
          </p:cNvPicPr>
          <p:nvPr>
            <p:ph sz="half" idx="2"/>
          </p:nvPr>
        </p:nvPicPr>
        <p:blipFill>
          <a:blip r:embed="rId2"/>
          <a:stretch>
            <a:fillRect/>
          </a:stretch>
        </p:blipFill>
        <p:spPr>
          <a:xfrm>
            <a:off x="6172200" y="2115104"/>
            <a:ext cx="5340350" cy="3489805"/>
          </a:xfrm>
          <a:prstGeom prst="rect">
            <a:avLst/>
          </a:prstGeom>
        </p:spPr>
      </p:pic>
    </p:spTree>
    <p:extLst>
      <p:ext uri="{BB962C8B-B14F-4D97-AF65-F5344CB8AC3E}">
        <p14:creationId xmlns:p14="http://schemas.microsoft.com/office/powerpoint/2010/main" val="3543236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55179-7ECA-E2F3-5700-984E55E3A2B7}"/>
              </a:ext>
            </a:extLst>
          </p:cNvPr>
          <p:cNvSpPr>
            <a:spLocks noGrp="1"/>
          </p:cNvSpPr>
          <p:nvPr>
            <p:ph type="title"/>
          </p:nvPr>
        </p:nvSpPr>
        <p:spPr>
          <a:xfrm>
            <a:off x="678881" y="384464"/>
            <a:ext cx="10834233" cy="831977"/>
          </a:xfrm>
        </p:spPr>
        <p:txBody>
          <a:bodyPr>
            <a:normAutofit fontScale="90000"/>
          </a:bodyPr>
          <a:lstStyle/>
          <a:p>
            <a:r>
              <a:rPr lang="en-US" dirty="0">
                <a:latin typeface="Times New Roman" panose="02020603050405020304" pitchFamily="18" charset="0"/>
                <a:cs typeface="Times New Roman" panose="02020603050405020304" pitchFamily="18" charset="0"/>
              </a:rPr>
              <a:t>Previously Insured vs Customer Response </a:t>
            </a:r>
            <a:br>
              <a:rPr lang="en-US" dirty="0"/>
            </a:br>
            <a:endParaRPr lang="en-IN" dirty="0"/>
          </a:p>
        </p:txBody>
      </p:sp>
      <p:sp>
        <p:nvSpPr>
          <p:cNvPr id="3" name="Content Placeholder 2">
            <a:extLst>
              <a:ext uri="{FF2B5EF4-FFF2-40B4-BE49-F238E27FC236}">
                <a16:creationId xmlns:a16="http://schemas.microsoft.com/office/drawing/2014/main" id="{B616A142-A48B-528A-B3F6-628748006466}"/>
              </a:ext>
            </a:extLst>
          </p:cNvPr>
          <p:cNvSpPr>
            <a:spLocks noGrp="1"/>
          </p:cNvSpPr>
          <p:nvPr>
            <p:ph sz="half"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Customer response varies based on previous insurance status.</a:t>
            </a:r>
          </a:p>
          <a:p>
            <a:r>
              <a:rPr lang="en-US" dirty="0">
                <a:latin typeface="Times New Roman" panose="02020603050405020304" pitchFamily="18" charset="0"/>
                <a:cs typeface="Times New Roman" panose="02020603050405020304" pitchFamily="18" charset="0"/>
              </a:rPr>
              <a:t>Customers who were </a:t>
            </a:r>
            <a:r>
              <a:rPr lang="en-US" b="1" dirty="0">
                <a:latin typeface="Times New Roman" panose="02020603050405020304" pitchFamily="18" charset="0"/>
                <a:cs typeface="Times New Roman" panose="02020603050405020304" pitchFamily="18" charset="0"/>
              </a:rPr>
              <a:t>not previously insured</a:t>
            </a:r>
            <a:r>
              <a:rPr lang="en-US" dirty="0">
                <a:latin typeface="Times New Roman" panose="02020603050405020304" pitchFamily="18" charset="0"/>
                <a:cs typeface="Times New Roman" panose="02020603050405020304" pitchFamily="18" charset="0"/>
              </a:rPr>
              <a:t> show a </a:t>
            </a:r>
            <a:r>
              <a:rPr lang="en-US" b="1" dirty="0">
                <a:latin typeface="Times New Roman" panose="02020603050405020304" pitchFamily="18" charset="0"/>
                <a:cs typeface="Times New Roman" panose="02020603050405020304" pitchFamily="18" charset="0"/>
              </a:rPr>
              <a:t>higher response rate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Previously insured customers are less likely to respond to new offers.</a:t>
            </a:r>
          </a:p>
          <a:p>
            <a:r>
              <a:rPr lang="en-US" dirty="0">
                <a:latin typeface="Times New Roman" panose="02020603050405020304" pitchFamily="18" charset="0"/>
                <a:cs typeface="Times New Roman" panose="02020603050405020304" pitchFamily="18" charset="0"/>
              </a:rPr>
              <a:t>Previous insurance status is a </a:t>
            </a:r>
            <a:r>
              <a:rPr lang="en-US" b="1" dirty="0">
                <a:latin typeface="Times New Roman" panose="02020603050405020304" pitchFamily="18" charset="0"/>
                <a:cs typeface="Times New Roman" panose="02020603050405020304" pitchFamily="18" charset="0"/>
              </a:rPr>
              <a:t>strong predictor</a:t>
            </a:r>
            <a:r>
              <a:rPr lang="en-US" dirty="0">
                <a:latin typeface="Times New Roman" panose="02020603050405020304" pitchFamily="18" charset="0"/>
                <a:cs typeface="Times New Roman" panose="02020603050405020304" pitchFamily="18" charset="0"/>
              </a:rPr>
              <a:t> of customer response.</a:t>
            </a:r>
          </a:p>
          <a:p>
            <a:r>
              <a:rPr lang="en-US" dirty="0">
                <a:latin typeface="Times New Roman" panose="02020603050405020304" pitchFamily="18" charset="0"/>
                <a:cs typeface="Times New Roman" panose="02020603050405020304" pitchFamily="18" charset="0"/>
              </a:rPr>
              <a:t>This feature helps in identifying </a:t>
            </a:r>
            <a:r>
              <a:rPr lang="en-US" b="1" dirty="0">
                <a:latin typeface="Times New Roman" panose="02020603050405020304" pitchFamily="18" charset="0"/>
                <a:cs typeface="Times New Roman" panose="02020603050405020304" pitchFamily="18" charset="0"/>
              </a:rPr>
              <a:t>new customer acquisition opportunities</a:t>
            </a:r>
            <a:r>
              <a:rPr lang="en-US" dirty="0">
                <a:latin typeface="Times New Roman" panose="02020603050405020304" pitchFamily="18" charset="0"/>
                <a:cs typeface="Times New Roman" panose="02020603050405020304" pitchFamily="18" charset="0"/>
              </a:rPr>
              <a:t>.</a:t>
            </a:r>
          </a:p>
          <a:p>
            <a:endParaRPr lang="en-IN" dirty="0"/>
          </a:p>
        </p:txBody>
      </p:sp>
      <p:pic>
        <p:nvPicPr>
          <p:cNvPr id="6" name="Content Placeholder 5" descr="A graph of insured vs customer response">
            <a:extLst>
              <a:ext uri="{FF2B5EF4-FFF2-40B4-BE49-F238E27FC236}">
                <a16:creationId xmlns:a16="http://schemas.microsoft.com/office/drawing/2014/main" id="{FE42F3BA-B23E-A017-6B7C-A02BB409BEBD}"/>
              </a:ext>
            </a:extLst>
          </p:cNvPr>
          <p:cNvPicPr>
            <a:picLocks noGrp="1" noChangeAspect="1"/>
          </p:cNvPicPr>
          <p:nvPr>
            <p:ph sz="half" idx="2"/>
          </p:nvPr>
        </p:nvPicPr>
        <p:blipFill>
          <a:blip r:embed="rId2"/>
          <a:stretch>
            <a:fillRect/>
          </a:stretch>
        </p:blipFill>
        <p:spPr>
          <a:xfrm>
            <a:off x="6172200" y="2115104"/>
            <a:ext cx="5340350" cy="3489805"/>
          </a:xfrm>
          <a:prstGeom prst="rect">
            <a:avLst/>
          </a:prstGeom>
        </p:spPr>
      </p:pic>
    </p:spTree>
    <p:extLst>
      <p:ext uri="{BB962C8B-B14F-4D97-AF65-F5344CB8AC3E}">
        <p14:creationId xmlns:p14="http://schemas.microsoft.com/office/powerpoint/2010/main" val="1819285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DC434-25C7-3D73-4C79-56E4A6654476}"/>
              </a:ext>
            </a:extLst>
          </p:cNvPr>
          <p:cNvSpPr>
            <a:spLocks noGrp="1"/>
          </p:cNvSpPr>
          <p:nvPr>
            <p:ph type="title"/>
          </p:nvPr>
        </p:nvSpPr>
        <p:spPr>
          <a:xfrm>
            <a:off x="678881" y="218210"/>
            <a:ext cx="10834233" cy="998232"/>
          </a:xfrm>
        </p:spPr>
        <p:txBody>
          <a:bodyPr>
            <a:normAutofit/>
          </a:bodyPr>
          <a:lstStyle/>
          <a:p>
            <a:r>
              <a:rPr lang="en-US" dirty="0">
                <a:latin typeface="Times New Roman" panose="02020603050405020304" pitchFamily="18" charset="0"/>
                <a:cs typeface="Times New Roman" panose="02020603050405020304" pitchFamily="18" charset="0"/>
              </a:rPr>
              <a:t>Vehicle Age vs Customer Response </a:t>
            </a:r>
            <a:br>
              <a:rPr lang="en-US" dirty="0"/>
            </a:br>
            <a:endParaRPr lang="en-IN" dirty="0"/>
          </a:p>
        </p:txBody>
      </p:sp>
      <p:sp>
        <p:nvSpPr>
          <p:cNvPr id="3" name="Content Placeholder 2">
            <a:extLst>
              <a:ext uri="{FF2B5EF4-FFF2-40B4-BE49-F238E27FC236}">
                <a16:creationId xmlns:a16="http://schemas.microsoft.com/office/drawing/2014/main" id="{8DAF9FDB-D474-4D0F-EA2F-31F215CF6A61}"/>
              </a:ext>
            </a:extLst>
          </p:cNvPr>
          <p:cNvSpPr>
            <a:spLocks noGrp="1"/>
          </p:cNvSpPr>
          <p:nvPr>
            <p:ph sz="half"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Customer response changes with the age of the vehicle.</a:t>
            </a:r>
          </a:p>
          <a:p>
            <a:r>
              <a:rPr lang="en-US" dirty="0">
                <a:latin typeface="Times New Roman" panose="02020603050405020304" pitchFamily="18" charset="0"/>
                <a:cs typeface="Times New Roman" panose="02020603050405020304" pitchFamily="18" charset="0"/>
              </a:rPr>
              <a:t>Owners of </a:t>
            </a:r>
            <a:r>
              <a:rPr lang="en-US" b="1" dirty="0">
                <a:latin typeface="Times New Roman" panose="02020603050405020304" pitchFamily="18" charset="0"/>
                <a:cs typeface="Times New Roman" panose="02020603050405020304" pitchFamily="18" charset="0"/>
              </a:rPr>
              <a:t>new and mid-age vehicles</a:t>
            </a:r>
            <a:r>
              <a:rPr lang="en-US" dirty="0">
                <a:latin typeface="Times New Roman" panose="02020603050405020304" pitchFamily="18" charset="0"/>
                <a:cs typeface="Times New Roman" panose="02020603050405020304" pitchFamily="18" charset="0"/>
              </a:rPr>
              <a:t> show higher response rates.</a:t>
            </a:r>
          </a:p>
          <a:p>
            <a:r>
              <a:rPr lang="en-US" dirty="0">
                <a:latin typeface="Times New Roman" panose="02020603050405020304" pitchFamily="18" charset="0"/>
                <a:cs typeface="Times New Roman" panose="02020603050405020304" pitchFamily="18" charset="0"/>
              </a:rPr>
              <a:t>Very old vehicle owners respond less frequently.</a:t>
            </a:r>
          </a:p>
          <a:p>
            <a:r>
              <a:rPr lang="en-US" dirty="0">
                <a:latin typeface="Times New Roman" panose="02020603050405020304" pitchFamily="18" charset="0"/>
                <a:cs typeface="Times New Roman" panose="02020603050405020304" pitchFamily="18" charset="0"/>
              </a:rPr>
              <a:t>Vehicle age reflects usage and risk level.</a:t>
            </a:r>
          </a:p>
          <a:p>
            <a:r>
              <a:rPr lang="en-US" dirty="0">
                <a:latin typeface="Times New Roman" panose="02020603050405020304" pitchFamily="18" charset="0"/>
                <a:cs typeface="Times New Roman" panose="02020603050405020304" pitchFamily="18" charset="0"/>
              </a:rPr>
              <a:t>Vehicle age helps in </a:t>
            </a:r>
            <a:r>
              <a:rPr lang="en-US" b="1" dirty="0">
                <a:latin typeface="Times New Roman" panose="02020603050405020304" pitchFamily="18" charset="0"/>
                <a:cs typeface="Times New Roman" panose="02020603050405020304" pitchFamily="18" charset="0"/>
              </a:rPr>
              <a:t>targeted policy marketing</a:t>
            </a:r>
            <a:r>
              <a:rPr lang="en-US" dirty="0">
                <a:latin typeface="Times New Roman" panose="02020603050405020304" pitchFamily="18" charset="0"/>
                <a:cs typeface="Times New Roman" panose="02020603050405020304" pitchFamily="18" charset="0"/>
              </a:rPr>
              <a:t>.</a:t>
            </a:r>
          </a:p>
          <a:p>
            <a:endParaRPr lang="en-IN" dirty="0"/>
          </a:p>
        </p:txBody>
      </p:sp>
      <p:pic>
        <p:nvPicPr>
          <p:cNvPr id="6" name="Content Placeholder 5" descr="A graph of a vehicle age and customer response">
            <a:extLst>
              <a:ext uri="{FF2B5EF4-FFF2-40B4-BE49-F238E27FC236}">
                <a16:creationId xmlns:a16="http://schemas.microsoft.com/office/drawing/2014/main" id="{C59A57CF-35FE-E5D5-8C4F-3350E471C1E5}"/>
              </a:ext>
            </a:extLst>
          </p:cNvPr>
          <p:cNvPicPr>
            <a:picLocks noGrp="1" noChangeAspect="1"/>
          </p:cNvPicPr>
          <p:nvPr>
            <p:ph sz="half" idx="2"/>
          </p:nvPr>
        </p:nvPicPr>
        <p:blipFill>
          <a:blip r:embed="rId2"/>
          <a:stretch>
            <a:fillRect/>
          </a:stretch>
        </p:blipFill>
        <p:spPr>
          <a:xfrm>
            <a:off x="6172200" y="2115104"/>
            <a:ext cx="5340350" cy="3489805"/>
          </a:xfrm>
          <a:prstGeom prst="rect">
            <a:avLst/>
          </a:prstGeom>
        </p:spPr>
      </p:pic>
    </p:spTree>
    <p:extLst>
      <p:ext uri="{BB962C8B-B14F-4D97-AF65-F5344CB8AC3E}">
        <p14:creationId xmlns:p14="http://schemas.microsoft.com/office/powerpoint/2010/main" val="910556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0F23B-54C0-40C9-9690-1B3050AD56FC}"/>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Annual Premium Distribution </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E65A01-6FCC-5394-16F8-2B00065DEA67}"/>
              </a:ext>
            </a:extLst>
          </p:cNvPr>
          <p:cNvSpPr>
            <a:spLocks noGrp="1"/>
          </p:cNvSpPr>
          <p:nvPr>
            <p:ph sz="half"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Annual premium values vary widely across customers.</a:t>
            </a:r>
          </a:p>
          <a:p>
            <a:r>
              <a:rPr lang="en-US" dirty="0">
                <a:latin typeface="Times New Roman" panose="02020603050405020304" pitchFamily="18" charset="0"/>
                <a:cs typeface="Times New Roman" panose="02020603050405020304" pitchFamily="18" charset="0"/>
              </a:rPr>
              <a:t>Most customers pay </a:t>
            </a:r>
            <a:r>
              <a:rPr lang="en-US" b="1" dirty="0">
                <a:latin typeface="Times New Roman" panose="02020603050405020304" pitchFamily="18" charset="0"/>
                <a:cs typeface="Times New Roman" panose="02020603050405020304" pitchFamily="18" charset="0"/>
              </a:rPr>
              <a:t>low to moderate premium amounts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distribution is </a:t>
            </a:r>
            <a:r>
              <a:rPr lang="en-US" b="1" dirty="0">
                <a:latin typeface="Times New Roman" panose="02020603050405020304" pitchFamily="18" charset="0"/>
                <a:cs typeface="Times New Roman" panose="02020603050405020304" pitchFamily="18" charset="0"/>
              </a:rPr>
              <a:t>right-skewed</a:t>
            </a:r>
            <a:r>
              <a:rPr lang="en-US" dirty="0">
                <a:latin typeface="Times New Roman" panose="02020603050405020304" pitchFamily="18" charset="0"/>
                <a:cs typeface="Times New Roman" panose="02020603050405020304" pitchFamily="18" charset="0"/>
              </a:rPr>
              <a:t>, with fewer high-premium customers.</a:t>
            </a:r>
          </a:p>
          <a:p>
            <a:r>
              <a:rPr lang="en-US" dirty="0">
                <a:latin typeface="Times New Roman" panose="02020603050405020304" pitchFamily="18" charset="0"/>
                <a:cs typeface="Times New Roman" panose="02020603050405020304" pitchFamily="18" charset="0"/>
              </a:rPr>
              <a:t>Premium distribution helps understand customer affordability.</a:t>
            </a:r>
          </a:p>
          <a:p>
            <a:r>
              <a:rPr lang="en-US" dirty="0">
                <a:latin typeface="Times New Roman" panose="02020603050405020304" pitchFamily="18" charset="0"/>
                <a:cs typeface="Times New Roman" panose="02020603050405020304" pitchFamily="18" charset="0"/>
              </a:rPr>
              <a:t>Useful for </a:t>
            </a:r>
            <a:r>
              <a:rPr lang="en-US" b="1" dirty="0">
                <a:latin typeface="Times New Roman" panose="02020603050405020304" pitchFamily="18" charset="0"/>
                <a:cs typeface="Times New Roman" panose="02020603050405020304" pitchFamily="18" charset="0"/>
              </a:rPr>
              <a:t>pricing strategy and segmentation</a:t>
            </a:r>
            <a:r>
              <a:rPr lang="en-US" dirty="0">
                <a:latin typeface="Times New Roman" panose="02020603050405020304" pitchFamily="18" charset="0"/>
                <a:cs typeface="Times New Roman" panose="02020603050405020304" pitchFamily="18" charset="0"/>
              </a:rPr>
              <a:t>.</a:t>
            </a:r>
          </a:p>
          <a:p>
            <a:endParaRPr lang="en-IN" dirty="0"/>
          </a:p>
        </p:txBody>
      </p:sp>
      <p:pic>
        <p:nvPicPr>
          <p:cNvPr id="6" name="Content Placeholder 5" descr="A graph of a premium distribution&#10;&#10;AI-generated content may be incorrect.">
            <a:extLst>
              <a:ext uri="{FF2B5EF4-FFF2-40B4-BE49-F238E27FC236}">
                <a16:creationId xmlns:a16="http://schemas.microsoft.com/office/drawing/2014/main" id="{5020F647-4095-4BA2-2030-D4329E316C7E}"/>
              </a:ext>
            </a:extLst>
          </p:cNvPr>
          <p:cNvPicPr>
            <a:picLocks noGrp="1" noChangeAspect="1"/>
          </p:cNvPicPr>
          <p:nvPr>
            <p:ph sz="half" idx="2"/>
          </p:nvPr>
        </p:nvPicPr>
        <p:blipFill>
          <a:blip r:embed="rId2"/>
          <a:stretch>
            <a:fillRect/>
          </a:stretch>
        </p:blipFill>
        <p:spPr>
          <a:xfrm>
            <a:off x="6172200" y="2115104"/>
            <a:ext cx="5340350" cy="3489805"/>
          </a:xfrm>
          <a:prstGeom prst="rect">
            <a:avLst/>
          </a:prstGeom>
        </p:spPr>
      </p:pic>
    </p:spTree>
    <p:extLst>
      <p:ext uri="{BB962C8B-B14F-4D97-AF65-F5344CB8AC3E}">
        <p14:creationId xmlns:p14="http://schemas.microsoft.com/office/powerpoint/2010/main" val="582586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F5A05-7A05-4E62-51F1-0F0787C30D3F}"/>
              </a:ext>
            </a:extLst>
          </p:cNvPr>
          <p:cNvSpPr>
            <a:spLocks noGrp="1"/>
          </p:cNvSpPr>
          <p:nvPr>
            <p:ph type="title"/>
          </p:nvPr>
        </p:nvSpPr>
        <p:spPr>
          <a:xfrm>
            <a:off x="678881" y="436418"/>
            <a:ext cx="10834233" cy="780023"/>
          </a:xfrm>
        </p:spPr>
        <p:txBody>
          <a:bodyPr>
            <a:normAutofit fontScale="90000"/>
          </a:bodyPr>
          <a:lstStyle/>
          <a:p>
            <a:r>
              <a:rPr lang="en-US" dirty="0">
                <a:latin typeface="Times New Roman" panose="02020603050405020304" pitchFamily="18" charset="0"/>
                <a:cs typeface="Times New Roman" panose="02020603050405020304" pitchFamily="18" charset="0"/>
              </a:rPr>
              <a:t>Annual Premium vs Customer Response </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155C2D-2A83-F331-B82E-7D34CE79419F}"/>
              </a:ext>
            </a:extLst>
          </p:cNvPr>
          <p:cNvSpPr>
            <a:spLocks noGrp="1"/>
          </p:cNvSpPr>
          <p:nvPr>
            <p:ph sz="half"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Customer response differs across premium ranges.</a:t>
            </a:r>
          </a:p>
          <a:p>
            <a:r>
              <a:rPr lang="en-US" dirty="0">
                <a:latin typeface="Times New Roman" panose="02020603050405020304" pitchFamily="18" charset="0"/>
                <a:cs typeface="Times New Roman" panose="02020603050405020304" pitchFamily="18" charset="0"/>
              </a:rPr>
              <a:t>Responding customers tend to have </a:t>
            </a:r>
            <a:r>
              <a:rPr lang="en-US" b="1" dirty="0">
                <a:latin typeface="Times New Roman" panose="02020603050405020304" pitchFamily="18" charset="0"/>
                <a:cs typeface="Times New Roman" panose="02020603050405020304" pitchFamily="18" charset="0"/>
              </a:rPr>
              <a:t>moderate to higher premiums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Very low premium customers show lower response rates.</a:t>
            </a:r>
          </a:p>
          <a:p>
            <a:r>
              <a:rPr lang="en-US" dirty="0">
                <a:latin typeface="Times New Roman" panose="02020603050405020304" pitchFamily="18" charset="0"/>
                <a:cs typeface="Times New Roman" panose="02020603050405020304" pitchFamily="18" charset="0"/>
              </a:rPr>
              <a:t>Premium amount influences customer interest.</a:t>
            </a:r>
          </a:p>
          <a:p>
            <a:r>
              <a:rPr lang="en-US" dirty="0">
                <a:latin typeface="Times New Roman" panose="02020603050405020304" pitchFamily="18" charset="0"/>
                <a:cs typeface="Times New Roman" panose="02020603050405020304" pitchFamily="18" charset="0"/>
              </a:rPr>
              <a:t>Important for </a:t>
            </a:r>
            <a:r>
              <a:rPr lang="en-US" b="1" dirty="0">
                <a:latin typeface="Times New Roman" panose="02020603050405020304" pitchFamily="18" charset="0"/>
                <a:cs typeface="Times New Roman" panose="02020603050405020304" pitchFamily="18" charset="0"/>
              </a:rPr>
              <a:t>premium-based targeting strategies</a:t>
            </a:r>
            <a:r>
              <a:rPr lang="en-US" dirty="0">
                <a:latin typeface="Times New Roman" panose="02020603050405020304" pitchFamily="18" charset="0"/>
                <a:cs typeface="Times New Roman" panose="02020603050405020304" pitchFamily="18" charset="0"/>
              </a:rPr>
              <a:t>.</a:t>
            </a:r>
          </a:p>
          <a:p>
            <a:endParaRPr lang="en-IN" dirty="0"/>
          </a:p>
        </p:txBody>
      </p:sp>
      <p:pic>
        <p:nvPicPr>
          <p:cNvPr id="6" name="Content Placeholder 5" descr="A graph of a number of objects&#10;&#10;AI-generated content may be incorrect.">
            <a:extLst>
              <a:ext uri="{FF2B5EF4-FFF2-40B4-BE49-F238E27FC236}">
                <a16:creationId xmlns:a16="http://schemas.microsoft.com/office/drawing/2014/main" id="{6B00C60E-F12B-5C42-B720-C6BB279075A5}"/>
              </a:ext>
            </a:extLst>
          </p:cNvPr>
          <p:cNvPicPr>
            <a:picLocks noGrp="1" noChangeAspect="1"/>
          </p:cNvPicPr>
          <p:nvPr>
            <p:ph sz="half" idx="2"/>
          </p:nvPr>
        </p:nvPicPr>
        <p:blipFill>
          <a:blip r:embed="rId2"/>
          <a:stretch>
            <a:fillRect/>
          </a:stretch>
        </p:blipFill>
        <p:spPr>
          <a:xfrm>
            <a:off x="6172200" y="2115104"/>
            <a:ext cx="5340350" cy="3489805"/>
          </a:xfrm>
          <a:prstGeom prst="rect">
            <a:avLst/>
          </a:prstGeom>
        </p:spPr>
      </p:pic>
    </p:spTree>
    <p:extLst>
      <p:ext uri="{BB962C8B-B14F-4D97-AF65-F5344CB8AC3E}">
        <p14:creationId xmlns:p14="http://schemas.microsoft.com/office/powerpoint/2010/main" val="2985440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9A727-7F53-378C-C648-5A4FC88EF2D8}"/>
              </a:ext>
            </a:extLst>
          </p:cNvPr>
          <p:cNvSpPr>
            <a:spLocks noGrp="1"/>
          </p:cNvSpPr>
          <p:nvPr>
            <p:ph type="title"/>
          </p:nvPr>
        </p:nvSpPr>
        <p:spPr/>
        <p:txBody>
          <a:bodyPr>
            <a:normAutofit fontScale="90000"/>
          </a:bodyPr>
          <a:lstStyle/>
          <a:p>
            <a:r>
              <a:rPr lang="en-US" dirty="0"/>
              <a:t>Correlation Heatmap </a:t>
            </a:r>
            <a:br>
              <a:rPr lang="en-US" dirty="0"/>
            </a:br>
            <a:endParaRPr lang="en-IN" dirty="0"/>
          </a:p>
        </p:txBody>
      </p:sp>
      <p:sp>
        <p:nvSpPr>
          <p:cNvPr id="3" name="Content Placeholder 2">
            <a:extLst>
              <a:ext uri="{FF2B5EF4-FFF2-40B4-BE49-F238E27FC236}">
                <a16:creationId xmlns:a16="http://schemas.microsoft.com/office/drawing/2014/main" id="{4EF22B5B-4974-208A-C640-E6E933FF7B1B}"/>
              </a:ext>
            </a:extLst>
          </p:cNvPr>
          <p:cNvSpPr>
            <a:spLocks noGrp="1"/>
          </p:cNvSpPr>
          <p:nvPr>
            <p:ph sz="half" idx="1"/>
          </p:nvPr>
        </p:nvSpPr>
        <p:spPr/>
        <p:txBody>
          <a:bodyPr>
            <a:normAutofit fontScale="92500" lnSpcReduction="10000"/>
          </a:bodyPr>
          <a:lstStyle/>
          <a:p>
            <a:r>
              <a:rPr lang="en-US" dirty="0"/>
              <a:t>The heatmap shows relationships between numerical features.</a:t>
            </a:r>
          </a:p>
          <a:p>
            <a:r>
              <a:rPr lang="en-US" dirty="0"/>
              <a:t>Most features have </a:t>
            </a:r>
            <a:r>
              <a:rPr lang="en-US" b="1" dirty="0"/>
              <a:t>weak to moderate correlation</a:t>
            </a:r>
            <a:r>
              <a:rPr lang="en-US" dirty="0"/>
              <a:t> with the target.</a:t>
            </a:r>
          </a:p>
          <a:p>
            <a:r>
              <a:rPr lang="en-US" dirty="0"/>
              <a:t>No strong multicollinearity is observed among features.</a:t>
            </a:r>
          </a:p>
          <a:p>
            <a:r>
              <a:rPr lang="en-US" dirty="0"/>
              <a:t>Some features show positive correlation with customer response.</a:t>
            </a:r>
          </a:p>
          <a:p>
            <a:r>
              <a:rPr lang="en-US" dirty="0"/>
              <a:t>Helps in </a:t>
            </a:r>
            <a:r>
              <a:rPr lang="en-US" b="1" dirty="0"/>
              <a:t>feature selection and model stability</a:t>
            </a:r>
            <a:r>
              <a:rPr lang="en-US" dirty="0"/>
              <a:t>.</a:t>
            </a:r>
          </a:p>
          <a:p>
            <a:endParaRPr lang="en-IN" dirty="0"/>
          </a:p>
        </p:txBody>
      </p:sp>
      <p:pic>
        <p:nvPicPr>
          <p:cNvPr id="6" name="Content Placeholder 5" descr="A diagram of a heatmap&#10;&#10;AI-generated content may be incorrect.">
            <a:extLst>
              <a:ext uri="{FF2B5EF4-FFF2-40B4-BE49-F238E27FC236}">
                <a16:creationId xmlns:a16="http://schemas.microsoft.com/office/drawing/2014/main" id="{A64C8D9D-8035-6C5F-E8F7-1D360B9496B9}"/>
              </a:ext>
            </a:extLst>
          </p:cNvPr>
          <p:cNvPicPr>
            <a:picLocks noGrp="1" noChangeAspect="1"/>
          </p:cNvPicPr>
          <p:nvPr>
            <p:ph sz="half" idx="2"/>
          </p:nvPr>
        </p:nvPicPr>
        <p:blipFill>
          <a:blip r:embed="rId2"/>
          <a:stretch>
            <a:fillRect/>
          </a:stretch>
        </p:blipFill>
        <p:spPr>
          <a:xfrm>
            <a:off x="6172200" y="1835674"/>
            <a:ext cx="5340350" cy="4048665"/>
          </a:xfrm>
          <a:prstGeom prst="rect">
            <a:avLst/>
          </a:prstGeom>
        </p:spPr>
      </p:pic>
    </p:spTree>
    <p:extLst>
      <p:ext uri="{BB962C8B-B14F-4D97-AF65-F5344CB8AC3E}">
        <p14:creationId xmlns:p14="http://schemas.microsoft.com/office/powerpoint/2010/main" val="2328904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AD4EA-3FEE-921F-9A4C-C34BBB3D1D2B}"/>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Data Preprocessing</a:t>
            </a:r>
            <a:br>
              <a:rPr lang="en-US" dirty="0"/>
            </a:br>
            <a:endParaRPr lang="en-IN" dirty="0"/>
          </a:p>
        </p:txBody>
      </p:sp>
      <p:sp>
        <p:nvSpPr>
          <p:cNvPr id="3" name="Content Placeholder 2">
            <a:extLst>
              <a:ext uri="{FF2B5EF4-FFF2-40B4-BE49-F238E27FC236}">
                <a16:creationId xmlns:a16="http://schemas.microsoft.com/office/drawing/2014/main" id="{D9DE492A-EEF6-159B-69D2-111A5BF2C62F}"/>
              </a:ext>
            </a:extLst>
          </p:cNvPr>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Removed unnecessary or non-informative columns to improve model efficiency.</a:t>
            </a:r>
          </a:p>
          <a:p>
            <a:r>
              <a:rPr lang="en-US" dirty="0">
                <a:latin typeface="Times New Roman" panose="02020603050405020304" pitchFamily="18" charset="0"/>
                <a:cs typeface="Times New Roman" panose="02020603050405020304" pitchFamily="18" charset="0"/>
              </a:rPr>
              <a:t>Checked for missing values and confirmed that the dataset contains </a:t>
            </a:r>
            <a:r>
              <a:rPr lang="en-US" b="1" dirty="0">
                <a:latin typeface="Times New Roman" panose="02020603050405020304" pitchFamily="18" charset="0"/>
                <a:cs typeface="Times New Roman" panose="02020603050405020304" pitchFamily="18" charset="0"/>
              </a:rPr>
              <a:t>no significant missing data</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Converted categorical variables such as </a:t>
            </a:r>
            <a:r>
              <a:rPr lang="en-US" b="1" dirty="0">
                <a:latin typeface="Times New Roman" panose="02020603050405020304" pitchFamily="18" charset="0"/>
                <a:cs typeface="Times New Roman" panose="02020603050405020304" pitchFamily="18" charset="0"/>
              </a:rPr>
              <a:t>Gender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Vehicle Age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Vehicle Damage</a:t>
            </a:r>
            <a:r>
              <a:rPr lang="en-US" dirty="0">
                <a:latin typeface="Times New Roman" panose="02020603050405020304" pitchFamily="18" charset="0"/>
                <a:cs typeface="Times New Roman" panose="02020603050405020304" pitchFamily="18" charset="0"/>
              </a:rPr>
              <a:t> into numerical format using encoding techniques.</a:t>
            </a:r>
          </a:p>
          <a:p>
            <a:r>
              <a:rPr lang="en-US" dirty="0">
                <a:latin typeface="Times New Roman" panose="02020603050405020304" pitchFamily="18" charset="0"/>
                <a:cs typeface="Times New Roman" panose="02020603050405020304" pitchFamily="18" charset="0"/>
              </a:rPr>
              <a:t>Ensured binary features like </a:t>
            </a:r>
            <a:r>
              <a:rPr lang="en-US" b="1" dirty="0">
                <a:latin typeface="Times New Roman" panose="02020603050405020304" pitchFamily="18" charset="0"/>
                <a:cs typeface="Times New Roman" panose="02020603050405020304" pitchFamily="18" charset="0"/>
              </a:rPr>
              <a:t>Driving License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Previously Insured</a:t>
            </a:r>
            <a:r>
              <a:rPr lang="en-US" dirty="0">
                <a:latin typeface="Times New Roman" panose="02020603050405020304" pitchFamily="18" charset="0"/>
                <a:cs typeface="Times New Roman" panose="02020603050405020304" pitchFamily="18" charset="0"/>
              </a:rPr>
              <a:t> were in the correct numerical format.</a:t>
            </a:r>
          </a:p>
          <a:p>
            <a:r>
              <a:rPr lang="en-US" dirty="0">
                <a:latin typeface="Times New Roman" panose="02020603050405020304" pitchFamily="18" charset="0"/>
                <a:cs typeface="Times New Roman" panose="02020603050405020304" pitchFamily="18" charset="0"/>
              </a:rPr>
              <a:t>Scaled numerical features such as </a:t>
            </a:r>
            <a:r>
              <a:rPr lang="en-US" b="1" dirty="0">
                <a:latin typeface="Times New Roman" panose="02020603050405020304" pitchFamily="18" charset="0"/>
                <a:cs typeface="Times New Roman" panose="02020603050405020304" pitchFamily="18" charset="0"/>
              </a:rPr>
              <a:t>Age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Annual Premium</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Vintage</a:t>
            </a:r>
            <a:r>
              <a:rPr lang="en-US" dirty="0">
                <a:latin typeface="Times New Roman" panose="02020603050405020304" pitchFamily="18" charset="0"/>
                <a:cs typeface="Times New Roman" panose="02020603050405020304" pitchFamily="18" charset="0"/>
              </a:rPr>
              <a:t> to maintain uniform feature contribution.</a:t>
            </a:r>
          </a:p>
          <a:p>
            <a:r>
              <a:rPr lang="en-US" dirty="0">
                <a:latin typeface="Times New Roman" panose="02020603050405020304" pitchFamily="18" charset="0"/>
                <a:cs typeface="Times New Roman" panose="02020603050405020304" pitchFamily="18" charset="0"/>
              </a:rPr>
              <a:t>Separated the dataset into </a:t>
            </a:r>
            <a:r>
              <a:rPr lang="en-US" b="1" dirty="0">
                <a:latin typeface="Times New Roman" panose="02020603050405020304" pitchFamily="18" charset="0"/>
                <a:cs typeface="Times New Roman" panose="02020603050405020304" pitchFamily="18" charset="0"/>
              </a:rPr>
              <a:t>features (X)</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target variable (Response)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Split the data into </a:t>
            </a:r>
            <a:r>
              <a:rPr lang="en-US" b="1" dirty="0">
                <a:latin typeface="Times New Roman" panose="02020603050405020304" pitchFamily="18" charset="0"/>
                <a:cs typeface="Times New Roman" panose="02020603050405020304" pitchFamily="18" charset="0"/>
              </a:rPr>
              <a:t>training and testing sets</a:t>
            </a:r>
            <a:r>
              <a:rPr lang="en-US" dirty="0">
                <a:latin typeface="Times New Roman" panose="02020603050405020304" pitchFamily="18" charset="0"/>
                <a:cs typeface="Times New Roman" panose="02020603050405020304" pitchFamily="18" charset="0"/>
              </a:rPr>
              <a:t> to evaluate model performance.</a:t>
            </a:r>
          </a:p>
          <a:p>
            <a:r>
              <a:rPr lang="en-US" dirty="0">
                <a:latin typeface="Times New Roman" panose="02020603050405020304" pitchFamily="18" charset="0"/>
                <a:cs typeface="Times New Roman" panose="02020603050405020304" pitchFamily="18" charset="0"/>
              </a:rPr>
              <a:t>Prepared the final cleaned dataset for machine learning model training.</a:t>
            </a:r>
          </a:p>
          <a:p>
            <a:endParaRPr lang="en-IN" dirty="0"/>
          </a:p>
        </p:txBody>
      </p:sp>
    </p:spTree>
    <p:extLst>
      <p:ext uri="{BB962C8B-B14F-4D97-AF65-F5344CB8AC3E}">
        <p14:creationId xmlns:p14="http://schemas.microsoft.com/office/powerpoint/2010/main" val="3571454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A4C06-DA06-7EAC-06C5-1D4180CBDB98}"/>
              </a:ext>
            </a:extLst>
          </p:cNvPr>
          <p:cNvSpPr>
            <a:spLocks noGrp="1"/>
          </p:cNvSpPr>
          <p:nvPr>
            <p:ph type="title"/>
          </p:nvPr>
        </p:nvSpPr>
        <p:spPr>
          <a:xfrm>
            <a:off x="365760" y="254000"/>
            <a:ext cx="11329319" cy="769401"/>
          </a:xfrm>
        </p:spPr>
        <p:txBody>
          <a:bodyPr>
            <a:normAutofit fontScale="90000"/>
          </a:bodyPr>
          <a:lstStyle/>
          <a:p>
            <a:r>
              <a:rPr lang="en-US" dirty="0">
                <a:latin typeface="Times New Roman" panose="02020603050405020304" pitchFamily="18" charset="0"/>
                <a:cs typeface="Times New Roman" panose="02020603050405020304" pitchFamily="18" charset="0"/>
              </a:rPr>
              <a:t>Train–Test Split</a:t>
            </a:r>
            <a:br>
              <a:rPr lang="en-US" dirty="0"/>
            </a:br>
            <a:endParaRPr lang="en-IN" dirty="0"/>
          </a:p>
        </p:txBody>
      </p:sp>
      <p:sp>
        <p:nvSpPr>
          <p:cNvPr id="3" name="Content Placeholder 2">
            <a:extLst>
              <a:ext uri="{FF2B5EF4-FFF2-40B4-BE49-F238E27FC236}">
                <a16:creationId xmlns:a16="http://schemas.microsoft.com/office/drawing/2014/main" id="{55D7E298-C655-D24A-6430-BEB677529DD9}"/>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After preprocessing, the dataset was divided into </a:t>
            </a:r>
            <a:r>
              <a:rPr lang="en-US" b="1" dirty="0">
                <a:latin typeface="Times New Roman" panose="02020603050405020304" pitchFamily="18" charset="0"/>
                <a:cs typeface="Times New Roman" panose="02020603050405020304" pitchFamily="18" charset="0"/>
              </a:rPr>
              <a:t>training</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testing</a:t>
            </a:r>
            <a:r>
              <a:rPr lang="en-US" dirty="0">
                <a:latin typeface="Times New Roman" panose="02020603050405020304" pitchFamily="18" charset="0"/>
                <a:cs typeface="Times New Roman" panose="02020603050405020304" pitchFamily="18" charset="0"/>
              </a:rPr>
              <a:t> sets.</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training set</a:t>
            </a:r>
            <a:r>
              <a:rPr lang="en-US" dirty="0">
                <a:latin typeface="Times New Roman" panose="02020603050405020304" pitchFamily="18" charset="0"/>
                <a:cs typeface="Times New Roman" panose="02020603050405020304" pitchFamily="18" charset="0"/>
              </a:rPr>
              <a:t> was used to train machine learning models and learn patterns from the data.</a:t>
            </a:r>
          </a:p>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testing set</a:t>
            </a:r>
            <a:r>
              <a:rPr lang="en-US" dirty="0">
                <a:latin typeface="Times New Roman" panose="02020603050405020304" pitchFamily="18" charset="0"/>
                <a:cs typeface="Times New Roman" panose="02020603050405020304" pitchFamily="18" charset="0"/>
              </a:rPr>
              <a:t> was used to evaluate model performance on </a:t>
            </a:r>
            <a:r>
              <a:rPr lang="en-US" b="1" dirty="0">
                <a:latin typeface="Times New Roman" panose="02020603050405020304" pitchFamily="18" charset="0"/>
                <a:cs typeface="Times New Roman" panose="02020603050405020304" pitchFamily="18" charset="0"/>
              </a:rPr>
              <a:t>unseen data</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 standard </a:t>
            </a:r>
            <a:r>
              <a:rPr lang="en-US" b="1" dirty="0">
                <a:latin typeface="Times New Roman" panose="02020603050405020304" pitchFamily="18" charset="0"/>
                <a:cs typeface="Times New Roman" panose="02020603050405020304" pitchFamily="18" charset="0"/>
              </a:rPr>
              <a:t>train–test split ratio</a:t>
            </a:r>
            <a:r>
              <a:rPr lang="en-US" dirty="0">
                <a:latin typeface="Times New Roman" panose="02020603050405020304" pitchFamily="18" charset="0"/>
                <a:cs typeface="Times New Roman" panose="02020603050405020304" pitchFamily="18" charset="0"/>
              </a:rPr>
              <a:t> (e.g., 80% training and 20% testing) was applied.</a:t>
            </a:r>
          </a:p>
          <a:p>
            <a:r>
              <a:rPr lang="en-US" dirty="0">
                <a:latin typeface="Times New Roman" panose="02020603050405020304" pitchFamily="18" charset="0"/>
                <a:cs typeface="Times New Roman" panose="02020603050405020304" pitchFamily="18" charset="0"/>
              </a:rPr>
              <a:t>The split ensures </a:t>
            </a:r>
            <a:r>
              <a:rPr lang="en-US" b="1" dirty="0">
                <a:latin typeface="Times New Roman" panose="02020603050405020304" pitchFamily="18" charset="0"/>
                <a:cs typeface="Times New Roman" panose="02020603050405020304" pitchFamily="18" charset="0"/>
              </a:rPr>
              <a:t>fair evaluation</a:t>
            </a:r>
            <a:r>
              <a:rPr lang="en-US" dirty="0">
                <a:latin typeface="Times New Roman" panose="02020603050405020304" pitchFamily="18" charset="0"/>
                <a:cs typeface="Times New Roman" panose="02020603050405020304" pitchFamily="18" charset="0"/>
              </a:rPr>
              <a:t> and helps detect overfitting.</a:t>
            </a:r>
          </a:p>
          <a:p>
            <a:r>
              <a:rPr lang="en-US" dirty="0">
                <a:latin typeface="Times New Roman" panose="02020603050405020304" pitchFamily="18" charset="0"/>
                <a:cs typeface="Times New Roman" panose="02020603050405020304" pitchFamily="18" charset="0"/>
              </a:rPr>
              <a:t>The target variable </a:t>
            </a:r>
            <a:r>
              <a:rPr lang="en-US" b="1" dirty="0">
                <a:latin typeface="Times New Roman" panose="02020603050405020304" pitchFamily="18" charset="0"/>
                <a:cs typeface="Times New Roman" panose="02020603050405020304" pitchFamily="18" charset="0"/>
              </a:rPr>
              <a:t>Response</a:t>
            </a:r>
            <a:r>
              <a:rPr lang="en-US" dirty="0">
                <a:latin typeface="Times New Roman" panose="02020603050405020304" pitchFamily="18" charset="0"/>
                <a:cs typeface="Times New Roman" panose="02020603050405020304" pitchFamily="18" charset="0"/>
              </a:rPr>
              <a:t> was kept separate during the split process.</a:t>
            </a:r>
          </a:p>
          <a:p>
            <a:endParaRPr lang="en-IN" dirty="0"/>
          </a:p>
        </p:txBody>
      </p:sp>
    </p:spTree>
    <p:extLst>
      <p:ext uri="{BB962C8B-B14F-4D97-AF65-F5344CB8AC3E}">
        <p14:creationId xmlns:p14="http://schemas.microsoft.com/office/powerpoint/2010/main" val="944198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E7D22-78EB-B5C6-D467-1CCEB220EB15}"/>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Model Selection</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B784D07-C9B8-0838-C0BB-10672A83C1F8}"/>
              </a:ext>
            </a:extLst>
          </p:cNvPr>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The problem is formulated as a </a:t>
            </a:r>
            <a:r>
              <a:rPr lang="en-US" b="1" dirty="0">
                <a:latin typeface="Times New Roman" panose="02020603050405020304" pitchFamily="18" charset="0"/>
                <a:cs typeface="Times New Roman" panose="02020603050405020304" pitchFamily="18" charset="0"/>
              </a:rPr>
              <a:t>binary classification task</a:t>
            </a:r>
            <a:r>
              <a:rPr lang="en-US" dirty="0">
                <a:latin typeface="Times New Roman" panose="02020603050405020304" pitchFamily="18" charset="0"/>
                <a:cs typeface="Times New Roman" panose="02020603050405020304" pitchFamily="18" charset="0"/>
              </a:rPr>
              <a:t>, where the goal is to predict customer response (Yes/No).</a:t>
            </a:r>
          </a:p>
          <a:p>
            <a:r>
              <a:rPr lang="en-US" dirty="0">
                <a:latin typeface="Times New Roman" panose="02020603050405020304" pitchFamily="18" charset="0"/>
                <a:cs typeface="Times New Roman" panose="02020603050405020304" pitchFamily="18" charset="0"/>
              </a:rPr>
              <a:t>Multiple machine learning algorithms were selected to compare performance and robustness.</a:t>
            </a:r>
          </a:p>
          <a:p>
            <a:r>
              <a:rPr lang="en-US" b="1" dirty="0">
                <a:latin typeface="Times New Roman" panose="02020603050405020304" pitchFamily="18" charset="0"/>
                <a:cs typeface="Times New Roman" panose="02020603050405020304" pitchFamily="18" charset="0"/>
              </a:rPr>
              <a:t>Logistic Regression</a:t>
            </a:r>
            <a:r>
              <a:rPr lang="en-US" dirty="0">
                <a:latin typeface="Times New Roman" panose="02020603050405020304" pitchFamily="18" charset="0"/>
                <a:cs typeface="Times New Roman" panose="02020603050405020304" pitchFamily="18" charset="0"/>
              </a:rPr>
              <a:t> was chosen as a baseline model due to its simplicity and interpretability.</a:t>
            </a:r>
          </a:p>
          <a:p>
            <a:r>
              <a:rPr lang="en-US" b="1" dirty="0">
                <a:latin typeface="Times New Roman" panose="02020603050405020304" pitchFamily="18" charset="0"/>
                <a:cs typeface="Times New Roman" panose="02020603050405020304" pitchFamily="18" charset="0"/>
              </a:rPr>
              <a:t>Decision Tree Classifier</a:t>
            </a:r>
            <a:r>
              <a:rPr lang="en-US" dirty="0">
                <a:latin typeface="Times New Roman" panose="02020603050405020304" pitchFamily="18" charset="0"/>
                <a:cs typeface="Times New Roman" panose="02020603050405020304" pitchFamily="18" charset="0"/>
              </a:rPr>
              <a:t> was used to capture non-linear relationships between features.</a:t>
            </a:r>
          </a:p>
          <a:p>
            <a:r>
              <a:rPr lang="en-US" b="1" dirty="0">
                <a:latin typeface="Times New Roman" panose="02020603050405020304" pitchFamily="18" charset="0"/>
                <a:cs typeface="Times New Roman" panose="02020603050405020304" pitchFamily="18" charset="0"/>
              </a:rPr>
              <a:t>Random Forest Classifier</a:t>
            </a:r>
            <a:r>
              <a:rPr lang="en-US" dirty="0">
                <a:latin typeface="Times New Roman" panose="02020603050405020304" pitchFamily="18" charset="0"/>
                <a:cs typeface="Times New Roman" panose="02020603050405020304" pitchFamily="18" charset="0"/>
              </a:rPr>
              <a:t> was selected for its ability to handle complex patterns and reduce overfitting through ensemble learning.</a:t>
            </a:r>
          </a:p>
          <a:p>
            <a:r>
              <a:rPr lang="en-US" dirty="0">
                <a:latin typeface="Times New Roman" panose="02020603050405020304" pitchFamily="18" charset="0"/>
                <a:cs typeface="Times New Roman" panose="02020603050405020304" pitchFamily="18" charset="0"/>
              </a:rPr>
              <a:t>Models were evaluated using standard classification metrics to identify the best-performing model.</a:t>
            </a:r>
          </a:p>
          <a:p>
            <a:endParaRPr lang="en-IN" dirty="0"/>
          </a:p>
        </p:txBody>
      </p:sp>
    </p:spTree>
    <p:extLst>
      <p:ext uri="{BB962C8B-B14F-4D97-AF65-F5344CB8AC3E}">
        <p14:creationId xmlns:p14="http://schemas.microsoft.com/office/powerpoint/2010/main" val="1139783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98470-411E-0CE7-BBFB-FEB38A223074}"/>
              </a:ext>
            </a:extLst>
          </p:cNvPr>
          <p:cNvSpPr>
            <a:spLocks noGrp="1"/>
          </p:cNvSpPr>
          <p:nvPr>
            <p:ph type="title"/>
          </p:nvPr>
        </p:nvSpPr>
        <p:spPr/>
        <p:txBody>
          <a:bodyPr/>
          <a:lstStyle/>
          <a:p>
            <a:r>
              <a:rPr lang="en-IN" dirty="0"/>
              <a:t> </a:t>
            </a:r>
            <a:r>
              <a:rPr lang="en-IN" dirty="0">
                <a:latin typeface="Times New Roman" panose="02020603050405020304" pitchFamily="18" charset="0"/>
                <a:cs typeface="Times New Roman" panose="02020603050405020304" pitchFamily="18" charset="0"/>
              </a:rPr>
              <a:t>Model Performance Metrics </a:t>
            </a:r>
          </a:p>
        </p:txBody>
      </p:sp>
      <p:graphicFrame>
        <p:nvGraphicFramePr>
          <p:cNvPr id="5" name="Content Placeholder 4">
            <a:extLst>
              <a:ext uri="{FF2B5EF4-FFF2-40B4-BE49-F238E27FC236}">
                <a16:creationId xmlns:a16="http://schemas.microsoft.com/office/drawing/2014/main" id="{6D8BA1BF-C3D6-E70B-468E-17B611FC0F76}"/>
              </a:ext>
            </a:extLst>
          </p:cNvPr>
          <p:cNvGraphicFramePr>
            <a:graphicFrameLocks noGrp="1"/>
          </p:cNvGraphicFramePr>
          <p:nvPr>
            <p:ph sz="half" idx="1"/>
            <p:extLst>
              <p:ext uri="{D42A27DB-BD31-4B8C-83A1-F6EECF244321}">
                <p14:modId xmlns:p14="http://schemas.microsoft.com/office/powerpoint/2010/main" val="2302512534"/>
              </p:ext>
            </p:extLst>
          </p:nvPr>
        </p:nvGraphicFramePr>
        <p:xfrm>
          <a:off x="679450" y="1660525"/>
          <a:ext cx="5340350" cy="4476116"/>
        </p:xfrm>
        <a:graphic>
          <a:graphicData uri="http://schemas.openxmlformats.org/drawingml/2006/table">
            <a:tbl>
              <a:tblPr firstRow="1" bandRow="1">
                <a:tableStyleId>{5C22544A-7EE6-4342-B048-85BDC9FD1C3A}</a:tableStyleId>
              </a:tblPr>
              <a:tblGrid>
                <a:gridCol w="1068070">
                  <a:extLst>
                    <a:ext uri="{9D8B030D-6E8A-4147-A177-3AD203B41FA5}">
                      <a16:colId xmlns:a16="http://schemas.microsoft.com/office/drawing/2014/main" val="298122718"/>
                    </a:ext>
                  </a:extLst>
                </a:gridCol>
                <a:gridCol w="1068070">
                  <a:extLst>
                    <a:ext uri="{9D8B030D-6E8A-4147-A177-3AD203B41FA5}">
                      <a16:colId xmlns:a16="http://schemas.microsoft.com/office/drawing/2014/main" val="1180276672"/>
                    </a:ext>
                  </a:extLst>
                </a:gridCol>
                <a:gridCol w="1068070">
                  <a:extLst>
                    <a:ext uri="{9D8B030D-6E8A-4147-A177-3AD203B41FA5}">
                      <a16:colId xmlns:a16="http://schemas.microsoft.com/office/drawing/2014/main" val="2053013388"/>
                    </a:ext>
                  </a:extLst>
                </a:gridCol>
                <a:gridCol w="1068070">
                  <a:extLst>
                    <a:ext uri="{9D8B030D-6E8A-4147-A177-3AD203B41FA5}">
                      <a16:colId xmlns:a16="http://schemas.microsoft.com/office/drawing/2014/main" val="763341502"/>
                    </a:ext>
                  </a:extLst>
                </a:gridCol>
                <a:gridCol w="1068070">
                  <a:extLst>
                    <a:ext uri="{9D8B030D-6E8A-4147-A177-3AD203B41FA5}">
                      <a16:colId xmlns:a16="http://schemas.microsoft.com/office/drawing/2014/main" val="819909193"/>
                    </a:ext>
                  </a:extLst>
                </a:gridCol>
              </a:tblGrid>
              <a:tr h="1119029">
                <a:tc>
                  <a:txBody>
                    <a:bodyPr/>
                    <a:lstStyle/>
                    <a:p>
                      <a:pPr>
                        <a:buNone/>
                      </a:pPr>
                      <a:r>
                        <a:rPr lang="en-IN" b="1" dirty="0"/>
                        <a:t>Model</a:t>
                      </a:r>
                      <a:endParaRPr lang="en-IN" dirty="0"/>
                    </a:p>
                  </a:txBody>
                  <a:tcPr anchor="ctr"/>
                </a:tc>
                <a:tc>
                  <a:txBody>
                    <a:bodyPr/>
                    <a:lstStyle/>
                    <a:p>
                      <a:pPr>
                        <a:buNone/>
                      </a:pPr>
                      <a:r>
                        <a:rPr lang="en-IN" b="1"/>
                        <a:t>Accuracy</a:t>
                      </a:r>
                      <a:endParaRPr lang="en-IN"/>
                    </a:p>
                  </a:txBody>
                  <a:tcPr anchor="ctr"/>
                </a:tc>
                <a:tc>
                  <a:txBody>
                    <a:bodyPr/>
                    <a:lstStyle/>
                    <a:p>
                      <a:pPr>
                        <a:buNone/>
                      </a:pPr>
                      <a:r>
                        <a:rPr lang="en-IN" b="1"/>
                        <a:t>Precision</a:t>
                      </a:r>
                      <a:endParaRPr lang="en-IN"/>
                    </a:p>
                  </a:txBody>
                  <a:tcPr anchor="ctr"/>
                </a:tc>
                <a:tc>
                  <a:txBody>
                    <a:bodyPr/>
                    <a:lstStyle/>
                    <a:p>
                      <a:pPr>
                        <a:buNone/>
                      </a:pPr>
                      <a:r>
                        <a:rPr lang="en-IN" b="1"/>
                        <a:t>Recall</a:t>
                      </a:r>
                      <a:endParaRPr lang="en-IN"/>
                    </a:p>
                  </a:txBody>
                  <a:tcPr anchor="ctr"/>
                </a:tc>
                <a:tc>
                  <a:txBody>
                    <a:bodyPr/>
                    <a:lstStyle/>
                    <a:p>
                      <a:pPr>
                        <a:buNone/>
                      </a:pPr>
                      <a:r>
                        <a:rPr lang="en-IN" b="1"/>
                        <a:t>F1-Score</a:t>
                      </a:r>
                      <a:endParaRPr lang="en-IN"/>
                    </a:p>
                  </a:txBody>
                  <a:tcPr anchor="ctr"/>
                </a:tc>
                <a:extLst>
                  <a:ext uri="{0D108BD9-81ED-4DB2-BD59-A6C34878D82A}">
                    <a16:rowId xmlns:a16="http://schemas.microsoft.com/office/drawing/2014/main" val="2981698194"/>
                  </a:ext>
                </a:extLst>
              </a:tr>
              <a:tr h="1119029">
                <a:tc>
                  <a:txBody>
                    <a:bodyPr/>
                    <a:lstStyle/>
                    <a:p>
                      <a:pPr>
                        <a:buNone/>
                      </a:pPr>
                      <a:r>
                        <a:rPr lang="en-IN" dirty="0"/>
                        <a:t>Logistic Regression</a:t>
                      </a:r>
                    </a:p>
                  </a:txBody>
                  <a:tcPr anchor="ctr"/>
                </a:tc>
                <a:tc>
                  <a:txBody>
                    <a:bodyPr/>
                    <a:lstStyle/>
                    <a:p>
                      <a:pPr>
                        <a:buNone/>
                      </a:pPr>
                      <a:r>
                        <a:rPr lang="en-IN" dirty="0"/>
                        <a:t>0.86</a:t>
                      </a:r>
                    </a:p>
                  </a:txBody>
                  <a:tcPr anchor="ctr"/>
                </a:tc>
                <a:tc>
                  <a:txBody>
                    <a:bodyPr/>
                    <a:lstStyle/>
                    <a:p>
                      <a:pPr>
                        <a:buNone/>
                      </a:pPr>
                      <a:r>
                        <a:rPr lang="en-IN" dirty="0"/>
                        <a:t>0.88</a:t>
                      </a:r>
                    </a:p>
                  </a:txBody>
                  <a:tcPr anchor="ctr"/>
                </a:tc>
                <a:tc>
                  <a:txBody>
                    <a:bodyPr/>
                    <a:lstStyle/>
                    <a:p>
                      <a:pPr>
                        <a:buNone/>
                      </a:pPr>
                      <a:r>
                        <a:rPr lang="en-IN" dirty="0"/>
                        <a:t>0.97</a:t>
                      </a:r>
                    </a:p>
                  </a:txBody>
                  <a:tcPr anchor="ctr"/>
                </a:tc>
                <a:tc>
                  <a:txBody>
                    <a:bodyPr/>
                    <a:lstStyle/>
                    <a:p>
                      <a:pPr>
                        <a:buNone/>
                      </a:pPr>
                      <a:r>
                        <a:rPr lang="en-IN" dirty="0"/>
                        <a:t>0.92</a:t>
                      </a:r>
                    </a:p>
                  </a:txBody>
                  <a:tcPr anchor="ctr"/>
                </a:tc>
                <a:extLst>
                  <a:ext uri="{0D108BD9-81ED-4DB2-BD59-A6C34878D82A}">
                    <a16:rowId xmlns:a16="http://schemas.microsoft.com/office/drawing/2014/main" val="329126507"/>
                  </a:ext>
                </a:extLst>
              </a:tr>
              <a:tr h="1119029">
                <a:tc>
                  <a:txBody>
                    <a:bodyPr/>
                    <a:lstStyle/>
                    <a:p>
                      <a:pPr>
                        <a:buNone/>
                      </a:pPr>
                      <a:r>
                        <a:rPr lang="en-IN"/>
                        <a:t>Decision Tree</a:t>
                      </a:r>
                    </a:p>
                  </a:txBody>
                  <a:tcPr anchor="ctr"/>
                </a:tc>
                <a:tc>
                  <a:txBody>
                    <a:bodyPr/>
                    <a:lstStyle/>
                    <a:p>
                      <a:pPr>
                        <a:buNone/>
                      </a:pPr>
                      <a:r>
                        <a:rPr lang="en-IN" dirty="0"/>
                        <a:t>0.70</a:t>
                      </a:r>
                    </a:p>
                  </a:txBody>
                  <a:tcPr anchor="ctr"/>
                </a:tc>
                <a:tc>
                  <a:txBody>
                    <a:bodyPr/>
                    <a:lstStyle/>
                    <a:p>
                      <a:pPr>
                        <a:buNone/>
                      </a:pPr>
                      <a:r>
                        <a:rPr lang="en-IN" dirty="0"/>
                        <a:t>0.98</a:t>
                      </a:r>
                    </a:p>
                  </a:txBody>
                  <a:tcPr anchor="ctr"/>
                </a:tc>
                <a:tc>
                  <a:txBody>
                    <a:bodyPr/>
                    <a:lstStyle/>
                    <a:p>
                      <a:pPr>
                        <a:buNone/>
                      </a:pPr>
                      <a:r>
                        <a:rPr lang="en-IN" dirty="0"/>
                        <a:t>0.91</a:t>
                      </a:r>
                    </a:p>
                  </a:txBody>
                  <a:tcPr anchor="ctr"/>
                </a:tc>
                <a:tc>
                  <a:txBody>
                    <a:bodyPr/>
                    <a:lstStyle/>
                    <a:p>
                      <a:pPr>
                        <a:buNone/>
                      </a:pPr>
                      <a:r>
                        <a:rPr lang="en-IN" dirty="0"/>
                        <a:t>0.80</a:t>
                      </a:r>
                    </a:p>
                  </a:txBody>
                  <a:tcPr anchor="ctr"/>
                </a:tc>
                <a:extLst>
                  <a:ext uri="{0D108BD9-81ED-4DB2-BD59-A6C34878D82A}">
                    <a16:rowId xmlns:a16="http://schemas.microsoft.com/office/drawing/2014/main" val="416924828"/>
                  </a:ext>
                </a:extLst>
              </a:tr>
              <a:tr h="1119029">
                <a:tc>
                  <a:txBody>
                    <a:bodyPr/>
                    <a:lstStyle/>
                    <a:p>
                      <a:pPr>
                        <a:buNone/>
                      </a:pPr>
                      <a:r>
                        <a:rPr lang="en-IN" b="0"/>
                        <a:t>Random Forest</a:t>
                      </a:r>
                    </a:p>
                  </a:txBody>
                  <a:tcPr anchor="ctr"/>
                </a:tc>
                <a:tc>
                  <a:txBody>
                    <a:bodyPr/>
                    <a:lstStyle/>
                    <a:p>
                      <a:pPr>
                        <a:buNone/>
                      </a:pPr>
                      <a:r>
                        <a:rPr lang="en-IN" b="0" dirty="0"/>
                        <a:t>0.84</a:t>
                      </a:r>
                    </a:p>
                  </a:txBody>
                  <a:tcPr anchor="ctr"/>
                </a:tc>
                <a:tc>
                  <a:txBody>
                    <a:bodyPr/>
                    <a:lstStyle/>
                    <a:p>
                      <a:pPr>
                        <a:buNone/>
                      </a:pPr>
                      <a:r>
                        <a:rPr lang="en-IN" b="0" dirty="0"/>
                        <a:t>0.99</a:t>
                      </a:r>
                    </a:p>
                  </a:txBody>
                  <a:tcPr anchor="ctr"/>
                </a:tc>
                <a:tc>
                  <a:txBody>
                    <a:bodyPr/>
                    <a:lstStyle/>
                    <a:p>
                      <a:pPr>
                        <a:buNone/>
                      </a:pPr>
                      <a:r>
                        <a:rPr lang="en-IN" b="0" dirty="0"/>
                        <a:t>0.96</a:t>
                      </a:r>
                    </a:p>
                  </a:txBody>
                  <a:tcPr anchor="ctr"/>
                </a:tc>
                <a:tc>
                  <a:txBody>
                    <a:bodyPr/>
                    <a:lstStyle/>
                    <a:p>
                      <a:pPr>
                        <a:buNone/>
                      </a:pPr>
                      <a:r>
                        <a:rPr lang="en-IN" b="0" dirty="0"/>
                        <a:t>0.94</a:t>
                      </a:r>
                    </a:p>
                  </a:txBody>
                  <a:tcPr anchor="ctr"/>
                </a:tc>
                <a:extLst>
                  <a:ext uri="{0D108BD9-81ED-4DB2-BD59-A6C34878D82A}">
                    <a16:rowId xmlns:a16="http://schemas.microsoft.com/office/drawing/2014/main" val="1040422375"/>
                  </a:ext>
                </a:extLst>
              </a:tr>
            </a:tbl>
          </a:graphicData>
        </a:graphic>
      </p:graphicFrame>
      <p:sp>
        <p:nvSpPr>
          <p:cNvPr id="4" name="Content Placeholder 3">
            <a:extLst>
              <a:ext uri="{FF2B5EF4-FFF2-40B4-BE49-F238E27FC236}">
                <a16:creationId xmlns:a16="http://schemas.microsoft.com/office/drawing/2014/main" id="{3ED931EF-35B6-2CC9-B304-74321CE3340D}"/>
              </a:ext>
            </a:extLst>
          </p:cNvPr>
          <p:cNvSpPr>
            <a:spLocks noGrp="1"/>
          </p:cNvSpPr>
          <p:nvPr>
            <p:ph sz="half" idx="2"/>
          </p:nvPr>
        </p:nvSpPr>
        <p:spPr/>
        <p:txBody>
          <a:bodyPr>
            <a:normAutofit fontScale="25000" lnSpcReduction="20000"/>
          </a:bodyPr>
          <a:lstStyle/>
          <a:p>
            <a:pPr marL="0" indent="0">
              <a:buNone/>
            </a:pPr>
            <a:r>
              <a:rPr lang="en-US" sz="4400" b="1" dirty="0">
                <a:latin typeface="Times New Roman" panose="02020603050405020304" pitchFamily="18" charset="0"/>
                <a:cs typeface="Times New Roman" panose="02020603050405020304" pitchFamily="18" charset="0"/>
              </a:rPr>
              <a:t>🔹 Logistic Regression</a:t>
            </a:r>
          </a:p>
          <a:p>
            <a:r>
              <a:rPr lang="en-US" sz="4400" b="1" dirty="0">
                <a:latin typeface="Times New Roman" panose="02020603050405020304" pitchFamily="18" charset="0"/>
                <a:cs typeface="Times New Roman" panose="02020603050405020304" pitchFamily="18" charset="0"/>
              </a:rPr>
              <a:t>Accuracy: 0.86</a:t>
            </a:r>
            <a:r>
              <a:rPr lang="en-US" sz="4400" dirty="0">
                <a:latin typeface="Times New Roman" panose="02020603050405020304" pitchFamily="18" charset="0"/>
                <a:cs typeface="Times New Roman" panose="02020603050405020304" pitchFamily="18" charset="0"/>
              </a:rPr>
              <a:t> – Good overall performance with stable predictions.</a:t>
            </a:r>
          </a:p>
          <a:p>
            <a:r>
              <a:rPr lang="en-US" sz="4400" b="1" dirty="0">
                <a:latin typeface="Times New Roman" panose="02020603050405020304" pitchFamily="18" charset="0"/>
                <a:cs typeface="Times New Roman" panose="02020603050405020304" pitchFamily="18" charset="0"/>
              </a:rPr>
              <a:t>Precision: 0.88</a:t>
            </a:r>
            <a:r>
              <a:rPr lang="en-US" sz="4400" dirty="0">
                <a:latin typeface="Times New Roman" panose="02020603050405020304" pitchFamily="18" charset="0"/>
                <a:cs typeface="Times New Roman" panose="02020603050405020304" pitchFamily="18" charset="0"/>
              </a:rPr>
              <a:t> – Reasonable control over false positives.</a:t>
            </a:r>
          </a:p>
          <a:p>
            <a:r>
              <a:rPr lang="en-US" sz="4400" b="1" dirty="0">
                <a:latin typeface="Times New Roman" panose="02020603050405020304" pitchFamily="18" charset="0"/>
                <a:cs typeface="Times New Roman" panose="02020603050405020304" pitchFamily="18" charset="0"/>
              </a:rPr>
              <a:t>Recall: 0.97</a:t>
            </a:r>
            <a:r>
              <a:rPr lang="en-US" sz="4400" dirty="0">
                <a:latin typeface="Times New Roman" panose="02020603050405020304" pitchFamily="18" charset="0"/>
                <a:cs typeface="Times New Roman" panose="02020603050405020304" pitchFamily="18" charset="0"/>
              </a:rPr>
              <a:t> – Very high ability to identify responding customers.</a:t>
            </a:r>
          </a:p>
          <a:p>
            <a:r>
              <a:rPr lang="en-US" sz="4400" b="1" dirty="0">
                <a:latin typeface="Times New Roman" panose="02020603050405020304" pitchFamily="18" charset="0"/>
                <a:cs typeface="Times New Roman" panose="02020603050405020304" pitchFamily="18" charset="0"/>
              </a:rPr>
              <a:t>F1-Score: 0.92</a:t>
            </a:r>
            <a:r>
              <a:rPr lang="en-US" sz="4400" dirty="0">
                <a:latin typeface="Times New Roman" panose="02020603050405020304" pitchFamily="18" charset="0"/>
                <a:cs typeface="Times New Roman" panose="02020603050405020304" pitchFamily="18" charset="0"/>
              </a:rPr>
              <a:t> – Strong balance between precision and recall.</a:t>
            </a:r>
          </a:p>
          <a:p>
            <a:r>
              <a:rPr lang="en-US" sz="4400" dirty="0">
                <a:latin typeface="Times New Roman" panose="02020603050405020304" pitchFamily="18" charset="0"/>
                <a:cs typeface="Times New Roman" panose="02020603050405020304" pitchFamily="18" charset="0"/>
              </a:rPr>
              <a:t>✅ Suitable as a </a:t>
            </a:r>
            <a:r>
              <a:rPr lang="en-US" sz="4400" b="1" dirty="0">
                <a:latin typeface="Times New Roman" panose="02020603050405020304" pitchFamily="18" charset="0"/>
                <a:cs typeface="Times New Roman" panose="02020603050405020304" pitchFamily="18" charset="0"/>
              </a:rPr>
              <a:t>baseline model</a:t>
            </a:r>
            <a:r>
              <a:rPr lang="en-US" sz="4400" dirty="0">
                <a:latin typeface="Times New Roman" panose="02020603050405020304" pitchFamily="18" charset="0"/>
                <a:cs typeface="Times New Roman" panose="02020603050405020304" pitchFamily="18" charset="0"/>
              </a:rPr>
              <a:t>.</a:t>
            </a:r>
          </a:p>
          <a:p>
            <a:pPr marL="0" indent="0">
              <a:buNone/>
            </a:pPr>
            <a:r>
              <a:rPr lang="en-US" sz="4400" b="1" dirty="0">
                <a:latin typeface="Times New Roman" panose="02020603050405020304" pitchFamily="18" charset="0"/>
                <a:cs typeface="Times New Roman" panose="02020603050405020304" pitchFamily="18" charset="0"/>
              </a:rPr>
              <a:t>🔹 Decision Tree</a:t>
            </a:r>
          </a:p>
          <a:p>
            <a:r>
              <a:rPr lang="en-US" sz="4400" b="1" dirty="0">
                <a:latin typeface="Times New Roman" panose="02020603050405020304" pitchFamily="18" charset="0"/>
                <a:cs typeface="Times New Roman" panose="02020603050405020304" pitchFamily="18" charset="0"/>
              </a:rPr>
              <a:t>Accuracy: 0.70</a:t>
            </a:r>
            <a:r>
              <a:rPr lang="en-US" sz="4400" dirty="0">
                <a:latin typeface="Times New Roman" panose="02020603050405020304" pitchFamily="18" charset="0"/>
                <a:cs typeface="Times New Roman" panose="02020603050405020304" pitchFamily="18" charset="0"/>
              </a:rPr>
              <a:t> – Lowest among all models, indicating weaker generalization.</a:t>
            </a:r>
          </a:p>
          <a:p>
            <a:r>
              <a:rPr lang="en-US" sz="4400" b="1" dirty="0">
                <a:latin typeface="Times New Roman" panose="02020603050405020304" pitchFamily="18" charset="0"/>
                <a:cs typeface="Times New Roman" panose="02020603050405020304" pitchFamily="18" charset="0"/>
              </a:rPr>
              <a:t>Precision: 0.98</a:t>
            </a:r>
            <a:r>
              <a:rPr lang="en-US" sz="4400" dirty="0">
                <a:latin typeface="Times New Roman" panose="02020603050405020304" pitchFamily="18" charset="0"/>
                <a:cs typeface="Times New Roman" panose="02020603050405020304" pitchFamily="18" charset="0"/>
              </a:rPr>
              <a:t> – Very high precision, minimal false positives.</a:t>
            </a:r>
          </a:p>
          <a:p>
            <a:r>
              <a:rPr lang="en-US" sz="4400" b="1" dirty="0">
                <a:latin typeface="Times New Roman" panose="02020603050405020304" pitchFamily="18" charset="0"/>
                <a:cs typeface="Times New Roman" panose="02020603050405020304" pitchFamily="18" charset="0"/>
              </a:rPr>
              <a:t>Recall: 0.91</a:t>
            </a:r>
            <a:r>
              <a:rPr lang="en-US" sz="4400" dirty="0">
                <a:latin typeface="Times New Roman" panose="02020603050405020304" pitchFamily="18" charset="0"/>
                <a:cs typeface="Times New Roman" panose="02020603050405020304" pitchFamily="18" charset="0"/>
              </a:rPr>
              <a:t> – Good at identifying positive responses.</a:t>
            </a:r>
          </a:p>
          <a:p>
            <a:r>
              <a:rPr lang="en-US" sz="4400" b="1" dirty="0">
                <a:latin typeface="Times New Roman" panose="02020603050405020304" pitchFamily="18" charset="0"/>
                <a:cs typeface="Times New Roman" panose="02020603050405020304" pitchFamily="18" charset="0"/>
              </a:rPr>
              <a:t>F1-Score: 0.80</a:t>
            </a:r>
            <a:r>
              <a:rPr lang="en-US" sz="4400" dirty="0">
                <a:latin typeface="Times New Roman" panose="02020603050405020304" pitchFamily="18" charset="0"/>
                <a:cs typeface="Times New Roman" panose="02020603050405020304" pitchFamily="18" charset="0"/>
              </a:rPr>
              <a:t> – Lower balance due to reduced accuracy.</a:t>
            </a:r>
          </a:p>
          <a:p>
            <a:r>
              <a:rPr lang="en-US" sz="4400" dirty="0">
                <a:latin typeface="Times New Roman" panose="02020603050405020304" pitchFamily="18" charset="0"/>
                <a:cs typeface="Times New Roman" panose="02020603050405020304" pitchFamily="18" charset="0"/>
              </a:rPr>
              <a:t>⚠ Tends to </a:t>
            </a:r>
            <a:r>
              <a:rPr lang="en-US" sz="4400" b="1" dirty="0">
                <a:latin typeface="Times New Roman" panose="02020603050405020304" pitchFamily="18" charset="0"/>
                <a:cs typeface="Times New Roman" panose="02020603050405020304" pitchFamily="18" charset="0"/>
              </a:rPr>
              <a:t>overfit</a:t>
            </a:r>
            <a:r>
              <a:rPr lang="en-US" sz="4400" dirty="0">
                <a:latin typeface="Times New Roman" panose="02020603050405020304" pitchFamily="18" charset="0"/>
                <a:cs typeface="Times New Roman" panose="02020603050405020304" pitchFamily="18" charset="0"/>
              </a:rPr>
              <a:t> and lacks stability.</a:t>
            </a:r>
          </a:p>
          <a:p>
            <a:pPr marL="0" indent="0">
              <a:buNone/>
            </a:pPr>
            <a:r>
              <a:rPr lang="en-US" sz="4400" b="1" dirty="0">
                <a:latin typeface="Times New Roman" panose="02020603050405020304" pitchFamily="18" charset="0"/>
                <a:cs typeface="Times New Roman" panose="02020603050405020304" pitchFamily="18" charset="0"/>
              </a:rPr>
              <a:t>🔹 Random Forest</a:t>
            </a:r>
          </a:p>
          <a:p>
            <a:r>
              <a:rPr lang="en-US" sz="4400" b="1" dirty="0">
                <a:latin typeface="Times New Roman" panose="02020603050405020304" pitchFamily="18" charset="0"/>
                <a:cs typeface="Times New Roman" panose="02020603050405020304" pitchFamily="18" charset="0"/>
              </a:rPr>
              <a:t>Accuracy: 0.84</a:t>
            </a:r>
            <a:r>
              <a:rPr lang="en-US" sz="4400" dirty="0">
                <a:latin typeface="Times New Roman" panose="02020603050405020304" pitchFamily="18" charset="0"/>
                <a:cs typeface="Times New Roman" panose="02020603050405020304" pitchFamily="18" charset="0"/>
              </a:rPr>
              <a:t> – Strong and consistent prediction capability.</a:t>
            </a:r>
          </a:p>
          <a:p>
            <a:r>
              <a:rPr lang="en-US" sz="4400" b="1" dirty="0">
                <a:latin typeface="Times New Roman" panose="02020603050405020304" pitchFamily="18" charset="0"/>
                <a:cs typeface="Times New Roman" panose="02020603050405020304" pitchFamily="18" charset="0"/>
              </a:rPr>
              <a:t>Precision: 0.99</a:t>
            </a:r>
            <a:r>
              <a:rPr lang="en-US" sz="4400" dirty="0">
                <a:latin typeface="Times New Roman" panose="02020603050405020304" pitchFamily="18" charset="0"/>
                <a:cs typeface="Times New Roman" panose="02020603050405020304" pitchFamily="18" charset="0"/>
              </a:rPr>
              <a:t> – Highest precision, extremely low false positives.</a:t>
            </a:r>
          </a:p>
          <a:p>
            <a:r>
              <a:rPr lang="en-US" sz="4400" b="1" dirty="0">
                <a:latin typeface="Times New Roman" panose="02020603050405020304" pitchFamily="18" charset="0"/>
                <a:cs typeface="Times New Roman" panose="02020603050405020304" pitchFamily="18" charset="0"/>
              </a:rPr>
              <a:t>Recall: 0.96</a:t>
            </a:r>
            <a:r>
              <a:rPr lang="en-US" sz="4400" dirty="0">
                <a:latin typeface="Times New Roman" panose="02020603050405020304" pitchFamily="18" charset="0"/>
                <a:cs typeface="Times New Roman" panose="02020603050405020304" pitchFamily="18" charset="0"/>
              </a:rPr>
              <a:t> – Successfully captures most interested customers.</a:t>
            </a:r>
          </a:p>
          <a:p>
            <a:r>
              <a:rPr lang="en-US" sz="4400" b="1" dirty="0">
                <a:latin typeface="Times New Roman" panose="02020603050405020304" pitchFamily="18" charset="0"/>
                <a:cs typeface="Times New Roman" panose="02020603050405020304" pitchFamily="18" charset="0"/>
              </a:rPr>
              <a:t>F1-Score: 0.94</a:t>
            </a:r>
            <a:r>
              <a:rPr lang="en-US" sz="4400" dirty="0">
                <a:latin typeface="Times New Roman" panose="02020603050405020304" pitchFamily="18" charset="0"/>
                <a:cs typeface="Times New Roman" panose="02020603050405020304" pitchFamily="18" charset="0"/>
              </a:rPr>
              <a:t> – Best overall balance among all models.</a:t>
            </a:r>
          </a:p>
          <a:p>
            <a:r>
              <a:rPr lang="en-US" sz="4400" dirty="0">
                <a:latin typeface="Times New Roman" panose="02020603050405020304" pitchFamily="18" charset="0"/>
                <a:cs typeface="Times New Roman" panose="02020603050405020304" pitchFamily="18" charset="0"/>
              </a:rPr>
              <a:t>🏆 </a:t>
            </a:r>
            <a:r>
              <a:rPr lang="en-US" sz="4400" b="1" dirty="0">
                <a:latin typeface="Times New Roman" panose="02020603050405020304" pitchFamily="18" charset="0"/>
                <a:cs typeface="Times New Roman" panose="02020603050405020304" pitchFamily="18" charset="0"/>
              </a:rPr>
              <a:t>Best performing model </a:t>
            </a:r>
            <a:r>
              <a:rPr lang="en-US" sz="2500" b="1" dirty="0">
                <a:latin typeface="Times New Roman" panose="02020603050405020304" pitchFamily="18" charset="0"/>
                <a:cs typeface="Times New Roman" panose="02020603050405020304" pitchFamily="18" charset="0"/>
              </a:rPr>
              <a:t>for deployment</a:t>
            </a:r>
            <a:r>
              <a:rPr lang="en-US" sz="25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999690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8C56C-B12A-3929-B4D9-6FE36DD0FFAF}"/>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App Deployment Using </a:t>
            </a:r>
            <a:r>
              <a:rPr lang="en-IN" sz="2800" dirty="0" err="1">
                <a:latin typeface="Times New Roman" panose="02020603050405020304" pitchFamily="18" charset="0"/>
                <a:cs typeface="Times New Roman" panose="02020603050405020304" pitchFamily="18" charset="0"/>
              </a:rPr>
              <a:t>Streamlit</a:t>
            </a:r>
            <a:endParaRPr lang="en-IN"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BD4A08-FA3C-E7D6-819C-BBB7D0340026}"/>
              </a:ext>
            </a:extLst>
          </p:cNvPr>
          <p:cNvSpPr>
            <a:spLocks noGrp="1"/>
          </p:cNvSpPr>
          <p:nvPr>
            <p:ph sz="half" idx="1"/>
          </p:nvPr>
        </p:nvSpPr>
        <p:spPr/>
        <p:txBody>
          <a:bodyPr>
            <a:normAutofit fontScale="70000" lnSpcReduction="20000"/>
          </a:bodyPr>
          <a:lstStyle/>
          <a:p>
            <a:r>
              <a:rPr lang="en-US" b="1" dirty="0">
                <a:latin typeface="Times New Roman" panose="02020603050405020304" pitchFamily="18" charset="0"/>
                <a:cs typeface="Times New Roman" panose="02020603050405020304" pitchFamily="18" charset="0"/>
              </a:rPr>
              <a:t>Technology Used</a:t>
            </a:r>
          </a:p>
          <a:p>
            <a:r>
              <a:rPr lang="en-US" b="1"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 Web application framework</a:t>
            </a:r>
          </a:p>
          <a:p>
            <a:r>
              <a:rPr lang="en-US" b="1" dirty="0">
                <a:latin typeface="Times New Roman" panose="02020603050405020304" pitchFamily="18" charset="0"/>
                <a:cs typeface="Times New Roman" panose="02020603050405020304" pitchFamily="18" charset="0"/>
              </a:rPr>
              <a:t>Python</a:t>
            </a:r>
            <a:r>
              <a:rPr lang="en-US" dirty="0">
                <a:latin typeface="Times New Roman" panose="02020603050405020304" pitchFamily="18" charset="0"/>
                <a:cs typeface="Times New Roman" panose="02020603050405020304" pitchFamily="18" charset="0"/>
              </a:rPr>
              <a:t> – Backend logic</a:t>
            </a:r>
          </a:p>
          <a:p>
            <a:r>
              <a:rPr lang="en-US" b="1" dirty="0" err="1">
                <a:latin typeface="Times New Roman" panose="02020603050405020304" pitchFamily="18" charset="0"/>
                <a:cs typeface="Times New Roman" panose="02020603050405020304" pitchFamily="18" charset="0"/>
              </a:rPr>
              <a:t>Joblib</a:t>
            </a:r>
            <a:r>
              <a:rPr lang="en-US" dirty="0">
                <a:latin typeface="Times New Roman" panose="02020603050405020304" pitchFamily="18" charset="0"/>
                <a:cs typeface="Times New Roman" panose="02020603050405020304" pitchFamily="18" charset="0"/>
              </a:rPr>
              <a:t> – Model serialization</a:t>
            </a:r>
          </a:p>
          <a:p>
            <a:r>
              <a:rPr lang="en-US" b="1" dirty="0">
                <a:latin typeface="Times New Roman" panose="02020603050405020304" pitchFamily="18" charset="0"/>
                <a:cs typeface="Times New Roman" panose="02020603050405020304" pitchFamily="18" charset="0"/>
              </a:rPr>
              <a:t>Scikit-Learn</a:t>
            </a:r>
            <a:r>
              <a:rPr lang="en-US" dirty="0">
                <a:latin typeface="Times New Roman" panose="02020603050405020304" pitchFamily="18" charset="0"/>
                <a:cs typeface="Times New Roman" panose="02020603050405020304" pitchFamily="18" charset="0"/>
              </a:rPr>
              <a:t> – Machine learning model</a:t>
            </a:r>
          </a:p>
          <a:p>
            <a:r>
              <a:rPr lang="en-US" b="1" dirty="0">
                <a:latin typeface="Times New Roman" panose="02020603050405020304" pitchFamily="18" charset="0"/>
                <a:cs typeface="Times New Roman" panose="02020603050405020304" pitchFamily="18" charset="0"/>
              </a:rPr>
              <a:t>Deployment Workflow</a:t>
            </a:r>
          </a:p>
          <a:p>
            <a:r>
              <a:rPr lang="en-US" dirty="0">
                <a:latin typeface="Times New Roman" panose="02020603050405020304" pitchFamily="18" charset="0"/>
                <a:cs typeface="Times New Roman" panose="02020603050405020304" pitchFamily="18" charset="0"/>
              </a:rPr>
              <a:t>Train and evaluate the machine learning model</a:t>
            </a:r>
          </a:p>
          <a:p>
            <a:r>
              <a:rPr lang="en-US" dirty="0">
                <a:latin typeface="Times New Roman" panose="02020603050405020304" pitchFamily="18" charset="0"/>
                <a:cs typeface="Times New Roman" panose="02020603050405020304" pitchFamily="18" charset="0"/>
              </a:rPr>
              <a:t>Save the final trained model using </a:t>
            </a:r>
            <a:r>
              <a:rPr lang="en-US" dirty="0" err="1">
                <a:latin typeface="Times New Roman" panose="02020603050405020304" pitchFamily="18" charset="0"/>
                <a:cs typeface="Times New Roman" panose="02020603050405020304" pitchFamily="18" charset="0"/>
              </a:rPr>
              <a:t>Joblib</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Build a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web interface</a:t>
            </a:r>
          </a:p>
          <a:p>
            <a:r>
              <a:rPr lang="en-US" dirty="0">
                <a:latin typeface="Times New Roman" panose="02020603050405020304" pitchFamily="18" charset="0"/>
                <a:cs typeface="Times New Roman" panose="02020603050405020304" pitchFamily="18" charset="0"/>
              </a:rPr>
              <a:t>Accept user inputs through the UI</a:t>
            </a:r>
          </a:p>
          <a:p>
            <a:r>
              <a:rPr lang="en-US" dirty="0">
                <a:latin typeface="Times New Roman" panose="02020603050405020304" pitchFamily="18" charset="0"/>
                <a:cs typeface="Times New Roman" panose="02020603050405020304" pitchFamily="18" charset="0"/>
              </a:rPr>
              <a:t>Generate real-time predictions</a:t>
            </a:r>
          </a:p>
          <a:p>
            <a:r>
              <a:rPr lang="en-US" dirty="0">
                <a:latin typeface="Times New Roman" panose="02020603050405020304" pitchFamily="18" charset="0"/>
                <a:cs typeface="Times New Roman" panose="02020603050405020304" pitchFamily="18" charset="0"/>
              </a:rPr>
              <a:t>Display results to the user</a:t>
            </a:r>
          </a:p>
          <a:p>
            <a:pPr marL="0" indent="0">
              <a:buNone/>
            </a:pPr>
            <a:endParaRPr lang="en-IN" dirty="0"/>
          </a:p>
        </p:txBody>
      </p:sp>
      <p:sp>
        <p:nvSpPr>
          <p:cNvPr id="4" name="Content Placeholder 3">
            <a:extLst>
              <a:ext uri="{FF2B5EF4-FFF2-40B4-BE49-F238E27FC236}">
                <a16:creationId xmlns:a16="http://schemas.microsoft.com/office/drawing/2014/main" id="{8AE4A9BD-0109-190F-D441-61EB4C0D9A36}"/>
              </a:ext>
            </a:extLst>
          </p:cNvPr>
          <p:cNvSpPr>
            <a:spLocks noGrp="1"/>
          </p:cNvSpPr>
          <p:nvPr>
            <p:ph sz="half" idx="2"/>
          </p:nvPr>
        </p:nvSpPr>
        <p:spPr/>
        <p:txBody>
          <a:bodyPr>
            <a:normAutofit fontScale="70000" lnSpcReduction="20000"/>
          </a:bodyPr>
          <a:lstStyle/>
          <a:p>
            <a:r>
              <a:rPr lang="en-US" b="1" dirty="0">
                <a:latin typeface="Times New Roman" panose="02020603050405020304" pitchFamily="18" charset="0"/>
                <a:cs typeface="Times New Roman" panose="02020603050405020304" pitchFamily="18" charset="0"/>
              </a:rPr>
              <a:t>Application Features</a:t>
            </a:r>
          </a:p>
          <a:p>
            <a:r>
              <a:rPr lang="en-US" dirty="0">
                <a:latin typeface="Times New Roman" panose="02020603050405020304" pitchFamily="18" charset="0"/>
                <a:cs typeface="Times New Roman" panose="02020603050405020304" pitchFamily="18" charset="0"/>
              </a:rPr>
              <a:t>User-friendly input form for customer details</a:t>
            </a:r>
          </a:p>
          <a:p>
            <a:r>
              <a:rPr lang="en-US" dirty="0">
                <a:latin typeface="Times New Roman" panose="02020603050405020304" pitchFamily="18" charset="0"/>
                <a:cs typeface="Times New Roman" panose="02020603050405020304" pitchFamily="18" charset="0"/>
              </a:rPr>
              <a:t>Real-time prediction output</a:t>
            </a:r>
          </a:p>
          <a:p>
            <a:r>
              <a:rPr lang="en-US" dirty="0">
                <a:latin typeface="Times New Roman" panose="02020603050405020304" pitchFamily="18" charset="0"/>
                <a:cs typeface="Times New Roman" panose="02020603050405020304" pitchFamily="18" charset="0"/>
              </a:rPr>
              <a:t>Clear response messages:</a:t>
            </a:r>
          </a:p>
          <a:p>
            <a:pPr lvl="1"/>
            <a:r>
              <a:rPr lang="en-US" b="1" dirty="0">
                <a:latin typeface="Times New Roman" panose="02020603050405020304" pitchFamily="18" charset="0"/>
                <a:cs typeface="Times New Roman" panose="02020603050405020304" pitchFamily="18" charset="0"/>
              </a:rPr>
              <a:t>Customer Likely Interested</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Customer Not Likely Interested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Lightweight and fast execution</a:t>
            </a:r>
          </a:p>
          <a:p>
            <a:r>
              <a:rPr lang="en-US" b="1" dirty="0">
                <a:latin typeface="Times New Roman" panose="02020603050405020304" pitchFamily="18" charset="0"/>
                <a:cs typeface="Times New Roman" panose="02020603050405020304" pitchFamily="18" charset="0"/>
              </a:rPr>
              <a:t>Model Integration</a:t>
            </a:r>
          </a:p>
          <a:p>
            <a:r>
              <a:rPr lang="en-US" dirty="0">
                <a:latin typeface="Times New Roman" panose="02020603050405020304" pitchFamily="18" charset="0"/>
                <a:cs typeface="Times New Roman" panose="02020603050405020304" pitchFamily="18" charset="0"/>
              </a:rPr>
              <a:t>The trained Random Forest model is loaded into the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app</a:t>
            </a:r>
          </a:p>
          <a:p>
            <a:r>
              <a:rPr lang="en-US" dirty="0">
                <a:latin typeface="Times New Roman" panose="02020603050405020304" pitchFamily="18" charset="0"/>
                <a:cs typeface="Times New Roman" panose="02020603050405020304" pitchFamily="18" charset="0"/>
              </a:rPr>
              <a:t>User inputs are transformed into the required format</a:t>
            </a:r>
          </a:p>
          <a:p>
            <a:r>
              <a:rPr lang="en-US" dirty="0">
                <a:latin typeface="Times New Roman" panose="02020603050405020304" pitchFamily="18" charset="0"/>
                <a:cs typeface="Times New Roman" panose="02020603050405020304" pitchFamily="18" charset="0"/>
              </a:rPr>
              <a:t>The model predicts customer response instantly</a:t>
            </a:r>
          </a:p>
          <a:p>
            <a:endParaRPr lang="en-IN" dirty="0"/>
          </a:p>
        </p:txBody>
      </p:sp>
    </p:spTree>
    <p:extLst>
      <p:ext uri="{BB962C8B-B14F-4D97-AF65-F5344CB8AC3E}">
        <p14:creationId xmlns:p14="http://schemas.microsoft.com/office/powerpoint/2010/main" val="3671166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8E1C3-DCF7-5E3E-65C2-962783FC94F0}"/>
              </a:ext>
            </a:extLst>
          </p:cNvPr>
          <p:cNvSpPr>
            <a:spLocks noGrp="1"/>
          </p:cNvSpPr>
          <p:nvPr>
            <p:ph type="title"/>
          </p:nvPr>
        </p:nvSpPr>
        <p:spPr/>
        <p:txBody>
          <a:bodyPr/>
          <a:lstStyle/>
          <a:p>
            <a:r>
              <a:rPr lang="en-IN" dirty="0" err="1"/>
              <a:t>Streamlit</a:t>
            </a:r>
            <a:r>
              <a:rPr lang="en-IN" dirty="0"/>
              <a:t> UI</a:t>
            </a:r>
          </a:p>
        </p:txBody>
      </p:sp>
      <p:pic>
        <p:nvPicPr>
          <p:cNvPr id="6" name="Content Placeholder 5">
            <a:extLst>
              <a:ext uri="{FF2B5EF4-FFF2-40B4-BE49-F238E27FC236}">
                <a16:creationId xmlns:a16="http://schemas.microsoft.com/office/drawing/2014/main" id="{63542BA1-1C8A-39D0-A47D-DA52BFDB1C4B}"/>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679450" y="1737361"/>
            <a:ext cx="5340352" cy="3982720"/>
          </a:xfrm>
        </p:spPr>
      </p:pic>
      <p:pic>
        <p:nvPicPr>
          <p:cNvPr id="8" name="Content Placeholder 7">
            <a:extLst>
              <a:ext uri="{FF2B5EF4-FFF2-40B4-BE49-F238E27FC236}">
                <a16:creationId xmlns:a16="http://schemas.microsoft.com/office/drawing/2014/main" id="{A24947E6-0398-DEA8-E142-73FB13F745EE}"/>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172200" y="1666240"/>
            <a:ext cx="5340350" cy="4053841"/>
          </a:xfrm>
        </p:spPr>
      </p:pic>
    </p:spTree>
    <p:extLst>
      <p:ext uri="{BB962C8B-B14F-4D97-AF65-F5344CB8AC3E}">
        <p14:creationId xmlns:p14="http://schemas.microsoft.com/office/powerpoint/2010/main" val="1862491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C6E07-B404-3D05-D998-090DF097AEBE}"/>
              </a:ext>
            </a:extLst>
          </p:cNvPr>
          <p:cNvSpPr>
            <a:spLocks noGrp="1"/>
          </p:cNvSpPr>
          <p:nvPr>
            <p:ph type="title"/>
          </p:nvPr>
        </p:nvSpPr>
        <p:spPr/>
        <p:txBody>
          <a:bodyPr/>
          <a:lstStyle/>
          <a:p>
            <a:r>
              <a:rPr lang="en-IN" dirty="0"/>
              <a:t>Conclusion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3146D8-8A59-243A-7446-CB338788A4FC}"/>
              </a:ext>
            </a:extLst>
          </p:cNvPr>
          <p:cNvSpPr>
            <a:spLocks noGrp="1"/>
          </p:cNvSpPr>
          <p:nvPr>
            <p:ph idx="1"/>
          </p:nvPr>
        </p:nvSpPr>
        <p:spPr/>
        <p:txBody>
          <a:bodyPr>
            <a:normAutofit fontScale="47500" lnSpcReduction="20000"/>
          </a:bodyPr>
          <a:lstStyle/>
          <a:p>
            <a:pPr marL="0" indent="0">
              <a:buNone/>
            </a:pPr>
            <a:r>
              <a:rPr lang="en-IN" b="1" dirty="0">
                <a:latin typeface="Times New Roman" panose="02020603050405020304" pitchFamily="18" charset="0"/>
                <a:cs typeface="Times New Roman" panose="02020603050405020304" pitchFamily="18" charset="0"/>
              </a:rPr>
              <a:t>KEY FINDINGS</a:t>
            </a: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Best Performing Model</a:t>
            </a:r>
          </a:p>
          <a:p>
            <a:r>
              <a:rPr lang="en-US" b="1" dirty="0">
                <a:latin typeface="Times New Roman" panose="02020603050405020304" pitchFamily="18" charset="0"/>
                <a:cs typeface="Times New Roman" panose="02020603050405020304" pitchFamily="18" charset="0"/>
              </a:rPr>
              <a:t>Tuned Random Forest Classifier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Outperformed Logistic Regression and Decision Tree models.</a:t>
            </a:r>
          </a:p>
          <a:p>
            <a:r>
              <a:rPr lang="en-US" b="1" dirty="0">
                <a:latin typeface="Times New Roman" panose="02020603050405020304" pitchFamily="18" charset="0"/>
                <a:cs typeface="Times New Roman" panose="02020603050405020304" pitchFamily="18" charset="0"/>
              </a:rPr>
              <a:t>Why Random Forest Performed Best</a:t>
            </a:r>
          </a:p>
          <a:p>
            <a:r>
              <a:rPr lang="en-US" dirty="0">
                <a:latin typeface="Times New Roman" panose="02020603050405020304" pitchFamily="18" charset="0"/>
                <a:cs typeface="Times New Roman" panose="02020603050405020304" pitchFamily="18" charset="0"/>
              </a:rPr>
              <a:t>Strong balance of </a:t>
            </a:r>
            <a:r>
              <a:rPr lang="en-US" b="1" dirty="0">
                <a:latin typeface="Times New Roman" panose="02020603050405020304" pitchFamily="18" charset="0"/>
                <a:cs typeface="Times New Roman" panose="02020603050405020304" pitchFamily="18" charset="0"/>
              </a:rPr>
              <a:t>Accuracy, Precision, Recall, and F1-Score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Handles </a:t>
            </a:r>
            <a:r>
              <a:rPr lang="en-US" b="1" dirty="0">
                <a:latin typeface="Times New Roman" panose="02020603050405020304" pitchFamily="18" charset="0"/>
                <a:cs typeface="Times New Roman" panose="02020603050405020304" pitchFamily="18" charset="0"/>
              </a:rPr>
              <a:t>non-linear relationships</a:t>
            </a:r>
            <a:r>
              <a:rPr lang="en-US" dirty="0">
                <a:latin typeface="Times New Roman" panose="02020603050405020304" pitchFamily="18" charset="0"/>
                <a:cs typeface="Times New Roman" panose="02020603050405020304" pitchFamily="18" charset="0"/>
              </a:rPr>
              <a:t> effectively</a:t>
            </a:r>
          </a:p>
          <a:p>
            <a:r>
              <a:rPr lang="en-US" dirty="0">
                <a:latin typeface="Times New Roman" panose="02020603050405020304" pitchFamily="18" charset="0"/>
                <a:cs typeface="Times New Roman" panose="02020603050405020304" pitchFamily="18" charset="0"/>
              </a:rPr>
              <a:t>Robust against overfitting after tuning</a:t>
            </a:r>
          </a:p>
          <a:p>
            <a:br>
              <a:rPr lang="en-US" dirty="0">
                <a:latin typeface="Times New Roman" panose="02020603050405020304" pitchFamily="18" charset="0"/>
                <a:cs typeface="Times New Roman" panose="02020603050405020304" pitchFamily="18" charset="0"/>
              </a:rPr>
            </a:br>
            <a:r>
              <a:rPr lang="en-US" b="1" dirty="0"/>
              <a:t>Business Impact</a:t>
            </a:r>
          </a:p>
          <a:p>
            <a:r>
              <a:rPr lang="en-US" dirty="0"/>
              <a:t>Enables </a:t>
            </a:r>
            <a:r>
              <a:rPr lang="en-US" b="1" dirty="0"/>
              <a:t>targeted marketing</a:t>
            </a:r>
            <a:r>
              <a:rPr lang="en-US" dirty="0"/>
              <a:t> instead of mass campaigns</a:t>
            </a:r>
          </a:p>
          <a:p>
            <a:r>
              <a:rPr lang="en-US" dirty="0"/>
              <a:t>Reduces </a:t>
            </a:r>
            <a:r>
              <a:rPr lang="en-US" b="1" dirty="0"/>
              <a:t>marketing cost and resource wastage</a:t>
            </a:r>
            <a:endParaRPr lang="en-US" dirty="0"/>
          </a:p>
          <a:p>
            <a:r>
              <a:rPr lang="en-US" dirty="0"/>
              <a:t>Improves </a:t>
            </a:r>
            <a:r>
              <a:rPr lang="en-US" b="1" dirty="0"/>
              <a:t>policy conversion rate</a:t>
            </a:r>
            <a:endParaRPr lang="en-US" dirty="0"/>
          </a:p>
          <a:p>
            <a:r>
              <a:rPr lang="en-US" dirty="0"/>
              <a:t>Supports </a:t>
            </a:r>
            <a:r>
              <a:rPr lang="en-US" b="1" dirty="0"/>
              <a:t>data-driven decision making</a:t>
            </a:r>
            <a:r>
              <a:rPr lang="en-US" dirty="0"/>
              <a:t> in insurance sales</a:t>
            </a:r>
          </a:p>
          <a:p>
            <a:br>
              <a:rPr lang="en-US" b="1" dirty="0"/>
            </a:br>
            <a:r>
              <a:rPr lang="en-US" b="1" dirty="0"/>
              <a:t>The tuned Random Forest model is the most effective approach for predicting customer response to insurance policy offers.</a:t>
            </a:r>
            <a:br>
              <a:rPr lang="en-US" b="1" dirty="0"/>
            </a:br>
            <a:r>
              <a:rPr lang="en-US" b="1" dirty="0"/>
              <a:t>It provides actionable insights that help insurance companies prioritize high-potential customers and optimize marketing strategies.</a:t>
            </a:r>
          </a:p>
          <a:p>
            <a:endParaRPr lang="en-US"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41745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3DF4D-C138-F291-3FC6-5B75E6657BF6}"/>
              </a:ext>
            </a:extLst>
          </p:cNvPr>
          <p:cNvSpPr>
            <a:spLocks noGrp="1"/>
          </p:cNvSpPr>
          <p:nvPr>
            <p:ph type="title"/>
          </p:nvPr>
        </p:nvSpPr>
        <p:spPr/>
        <p:txBody>
          <a:bodyPr>
            <a:normAutofit fontScale="90000"/>
          </a:bodyPr>
          <a:lstStyle/>
          <a:p>
            <a:r>
              <a:rPr lang="en-US" dirty="0"/>
              <a:t>Future Scope</a:t>
            </a:r>
            <a:br>
              <a:rPr lang="en-US" dirty="0"/>
            </a:br>
            <a:endParaRPr lang="en-IN" dirty="0"/>
          </a:p>
        </p:txBody>
      </p:sp>
      <p:sp>
        <p:nvSpPr>
          <p:cNvPr id="3" name="Content Placeholder 2">
            <a:extLst>
              <a:ext uri="{FF2B5EF4-FFF2-40B4-BE49-F238E27FC236}">
                <a16:creationId xmlns:a16="http://schemas.microsoft.com/office/drawing/2014/main" id="{84ACECE8-58AC-8569-C823-2331A64230F7}"/>
              </a:ext>
            </a:extLst>
          </p:cNvPr>
          <p:cNvSpPr>
            <a:spLocks noGrp="1"/>
          </p:cNvSpPr>
          <p:nvPr>
            <p:ph idx="1"/>
          </p:nvPr>
        </p:nvSpPr>
        <p:spPr/>
        <p:txBody>
          <a:bodyPr>
            <a:normAutofit fontScale="92500"/>
          </a:bodyPr>
          <a:lstStyle/>
          <a:p>
            <a:r>
              <a:rPr lang="en-US" dirty="0"/>
              <a:t>Implement advanced models like </a:t>
            </a:r>
            <a:r>
              <a:rPr lang="en-US" b="1" dirty="0" err="1"/>
              <a:t>XGBoost</a:t>
            </a:r>
            <a:r>
              <a:rPr lang="en-US" b="1" dirty="0"/>
              <a:t> and </a:t>
            </a:r>
            <a:r>
              <a:rPr lang="en-US" b="1" dirty="0" err="1"/>
              <a:t>LightGBM</a:t>
            </a:r>
            <a:r>
              <a:rPr lang="en-US" dirty="0"/>
              <a:t> to improve prediction performance.</a:t>
            </a:r>
          </a:p>
          <a:p>
            <a:r>
              <a:rPr lang="en-US" dirty="0"/>
              <a:t>Apply </a:t>
            </a:r>
            <a:r>
              <a:rPr lang="en-US" b="1" dirty="0"/>
              <a:t>class imbalance techniques</a:t>
            </a:r>
            <a:r>
              <a:rPr lang="en-US" dirty="0"/>
              <a:t> (SMOTE) to enhance recall for minority responses.</a:t>
            </a:r>
          </a:p>
          <a:p>
            <a:r>
              <a:rPr lang="en-US" dirty="0"/>
              <a:t>Perform </a:t>
            </a:r>
            <a:r>
              <a:rPr lang="en-US" b="1" dirty="0"/>
              <a:t>advanced feature engineering</a:t>
            </a:r>
            <a:r>
              <a:rPr lang="en-US" dirty="0"/>
              <a:t> using customer behavior and interaction features.</a:t>
            </a:r>
          </a:p>
          <a:p>
            <a:r>
              <a:rPr lang="en-US" dirty="0"/>
              <a:t>Integrate the model with </a:t>
            </a:r>
            <a:r>
              <a:rPr lang="en-US" b="1" dirty="0"/>
              <a:t>real-time insurance databases / CRM systems</a:t>
            </a:r>
            <a:r>
              <a:rPr lang="en-US" dirty="0"/>
              <a:t>.</a:t>
            </a:r>
          </a:p>
          <a:p>
            <a:r>
              <a:rPr lang="en-US" dirty="0"/>
              <a:t>Add </a:t>
            </a:r>
            <a:r>
              <a:rPr lang="en-US" b="1" dirty="0"/>
              <a:t>model explainability (SHAP/LIME)</a:t>
            </a:r>
            <a:r>
              <a:rPr lang="en-US" dirty="0"/>
              <a:t> for transparent business decisions.</a:t>
            </a:r>
          </a:p>
          <a:p>
            <a:r>
              <a:rPr lang="en-US" dirty="0"/>
              <a:t>Deploy the application on </a:t>
            </a:r>
            <a:r>
              <a:rPr lang="en-US" b="1" dirty="0"/>
              <a:t>cloud platforms</a:t>
            </a:r>
            <a:r>
              <a:rPr lang="en-US" dirty="0"/>
              <a:t> for scalability and wider access.</a:t>
            </a:r>
          </a:p>
          <a:p>
            <a:endParaRPr lang="en-IN" dirty="0"/>
          </a:p>
        </p:txBody>
      </p:sp>
    </p:spTree>
    <p:extLst>
      <p:ext uri="{BB962C8B-B14F-4D97-AF65-F5344CB8AC3E}">
        <p14:creationId xmlns:p14="http://schemas.microsoft.com/office/powerpoint/2010/main" val="407815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7512</TotalTime>
  <Words>1696</Words>
  <Application>Microsoft Office PowerPoint</Application>
  <PresentationFormat>Widescreen</PresentationFormat>
  <Paragraphs>181</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BIA Template</vt:lpstr>
      <vt:lpstr>PowerPoint Presentation</vt:lpstr>
      <vt:lpstr>Introduction</vt:lpstr>
      <vt:lpstr>Objectives</vt:lpstr>
      <vt:lpstr>About the Dataset</vt:lpstr>
      <vt:lpstr>EDA</vt:lpstr>
      <vt:lpstr>Age Distribution of Customers</vt:lpstr>
      <vt:lpstr>Age vs Customer Response </vt:lpstr>
      <vt:lpstr>Vehicle Damage vs Customer Response</vt:lpstr>
      <vt:lpstr>Previously Insured vs Customer Response  </vt:lpstr>
      <vt:lpstr>Vehicle Age vs Customer Response  </vt:lpstr>
      <vt:lpstr>Annual Premium Distribution  </vt:lpstr>
      <vt:lpstr>Annual Premium vs Customer Response  </vt:lpstr>
      <vt:lpstr>Correlation Heatmap  </vt:lpstr>
      <vt:lpstr>Data Preprocessing </vt:lpstr>
      <vt:lpstr>Train–Test Split </vt:lpstr>
      <vt:lpstr>Model Selection </vt:lpstr>
      <vt:lpstr> Model Performance Metrics </vt:lpstr>
      <vt:lpstr>App Deployment Using Streamlit</vt:lpstr>
      <vt:lpstr>Streamlit UI</vt:lpstr>
      <vt:lpstr>Conclusion</vt:lpstr>
      <vt:lpstr>Future Scope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Dhanush P</cp:lastModifiedBy>
  <cp:revision>2255</cp:revision>
  <dcterms:created xsi:type="dcterms:W3CDTF">2020-12-23T13:36:00Z</dcterms:created>
  <dcterms:modified xsi:type="dcterms:W3CDTF">2025-12-16T09:45:02Z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